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6"/>
  </p:notesMasterIdLst>
  <p:handoutMasterIdLst>
    <p:handoutMasterId r:id="rId27"/>
  </p:handoutMasterIdLst>
  <p:sldIdLst>
    <p:sldId id="312" r:id="rId5"/>
    <p:sldId id="304" r:id="rId6"/>
    <p:sldId id="307" r:id="rId7"/>
    <p:sldId id="281" r:id="rId8"/>
    <p:sldId id="282" r:id="rId9"/>
    <p:sldId id="323" r:id="rId10"/>
    <p:sldId id="314" r:id="rId11"/>
    <p:sldId id="315" r:id="rId12"/>
    <p:sldId id="317" r:id="rId13"/>
    <p:sldId id="318" r:id="rId14"/>
    <p:sldId id="324" r:id="rId15"/>
    <p:sldId id="325" r:id="rId16"/>
    <p:sldId id="326" r:id="rId17"/>
    <p:sldId id="327" r:id="rId18"/>
    <p:sldId id="328" r:id="rId19"/>
    <p:sldId id="329" r:id="rId20"/>
    <p:sldId id="330" r:id="rId21"/>
    <p:sldId id="319" r:id="rId22"/>
    <p:sldId id="321" r:id="rId23"/>
    <p:sldId id="322" r:id="rId24"/>
    <p:sldId id="297"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08FBDD-9D37-46FC-92DB-95351BC744CE}" v="379" dt="2025-11-23T22:12:22.113"/>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95388" autoAdjust="0"/>
  </p:normalViewPr>
  <p:slideViewPr>
    <p:cSldViewPr snapToGrid="0" snapToObjects="1">
      <p:cViewPr varScale="1">
        <p:scale>
          <a:sx n="78" d="100"/>
          <a:sy n="78" d="100"/>
        </p:scale>
        <p:origin x="931" y="-109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YA PRADHAN" userId="83344aa3db3accd5" providerId="LiveId" clId="{93C22D0B-7123-496B-8198-BECB49167227}"/>
    <pc:docChg chg="undo custSel modSld">
      <pc:chgData name="ANANYA PRADHAN" userId="83344aa3db3accd5" providerId="LiveId" clId="{93C22D0B-7123-496B-8198-BECB49167227}" dt="2025-11-23T22:12:22.113" v="102"/>
      <pc:docMkLst>
        <pc:docMk/>
      </pc:docMkLst>
      <pc:sldChg chg="modSp mod">
        <pc:chgData name="ANANYA PRADHAN" userId="83344aa3db3accd5" providerId="LiveId" clId="{93C22D0B-7123-496B-8198-BECB49167227}" dt="2025-11-23T21:29:06.926" v="96" actId="20577"/>
        <pc:sldMkLst>
          <pc:docMk/>
          <pc:sldMk cId="1131718056" sldId="314"/>
        </pc:sldMkLst>
        <pc:spChg chg="mod">
          <ac:chgData name="ANANYA PRADHAN" userId="83344aa3db3accd5" providerId="LiveId" clId="{93C22D0B-7123-496B-8198-BECB49167227}" dt="2025-11-23T21:29:06.926" v="96" actId="20577"/>
          <ac:spMkLst>
            <pc:docMk/>
            <pc:sldMk cId="1131718056" sldId="314"/>
            <ac:spMk id="7" creationId="{94CFE555-8EA8-6D54-32E0-17C2940D6FB4}"/>
          </ac:spMkLst>
        </pc:spChg>
      </pc:sldChg>
      <pc:sldChg chg="modSp mod">
        <pc:chgData name="ANANYA PRADHAN" userId="83344aa3db3accd5" providerId="LiveId" clId="{93C22D0B-7123-496B-8198-BECB49167227}" dt="2025-11-23T22:04:12.142" v="97" actId="1076"/>
        <pc:sldMkLst>
          <pc:docMk/>
          <pc:sldMk cId="3969996159" sldId="319"/>
        </pc:sldMkLst>
        <pc:spChg chg="mod">
          <ac:chgData name="ANANYA PRADHAN" userId="83344aa3db3accd5" providerId="LiveId" clId="{93C22D0B-7123-496B-8198-BECB49167227}" dt="2025-11-23T22:04:12.142" v="97" actId="1076"/>
          <ac:spMkLst>
            <pc:docMk/>
            <pc:sldMk cId="3969996159" sldId="319"/>
            <ac:spMk id="7" creationId="{66EA895C-ED3B-3391-CE83-C762E617C0BD}"/>
          </ac:spMkLst>
        </pc:spChg>
      </pc:sldChg>
      <pc:sldChg chg="modSp mod">
        <pc:chgData name="ANANYA PRADHAN" userId="83344aa3db3accd5" providerId="LiveId" clId="{93C22D0B-7123-496B-8198-BECB49167227}" dt="2025-11-23T22:06:32.548" v="99" actId="20577"/>
        <pc:sldMkLst>
          <pc:docMk/>
          <pc:sldMk cId="1686213229" sldId="322"/>
        </pc:sldMkLst>
        <pc:spChg chg="mod">
          <ac:chgData name="ANANYA PRADHAN" userId="83344aa3db3accd5" providerId="LiveId" clId="{93C22D0B-7123-496B-8198-BECB49167227}" dt="2025-11-23T22:06:32.548" v="99" actId="20577"/>
          <ac:spMkLst>
            <pc:docMk/>
            <pc:sldMk cId="1686213229" sldId="322"/>
            <ac:spMk id="6" creationId="{7AC1CB06-717F-8764-D94F-B3DBD31817B7}"/>
          </ac:spMkLst>
        </pc:spChg>
      </pc:sldChg>
      <pc:sldChg chg="modSp mod">
        <pc:chgData name="ANANYA PRADHAN" userId="83344aa3db3accd5" providerId="LiveId" clId="{93C22D0B-7123-496B-8198-BECB49167227}" dt="2025-11-23T22:12:22.113" v="102"/>
        <pc:sldMkLst>
          <pc:docMk/>
          <pc:sldMk cId="4243801546" sldId="323"/>
        </pc:sldMkLst>
        <pc:graphicFrameChg chg="mod modGraphic">
          <ac:chgData name="ANANYA PRADHAN" userId="83344aa3db3accd5" providerId="LiveId" clId="{93C22D0B-7123-496B-8198-BECB49167227}" dt="2025-11-23T22:12:22.113" v="102"/>
          <ac:graphicFrameMkLst>
            <pc:docMk/>
            <pc:sldMk cId="4243801546" sldId="323"/>
            <ac:graphicFrameMk id="3" creationId="{25940779-80D7-06DB-1A16-BF4A79C780E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hyperlink" Target="https://creativecommons.org/licenses/by-nc/3.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flickr.com/photos/myarthritis/8882225142" TargetMode="External"/><Relationship Id="rId5" Type="http://schemas.openxmlformats.org/officeDocument/2006/relationships/image" Target="../media/image14.jpg"/><Relationship Id="rId4" Type="http://schemas.openxmlformats.org/officeDocument/2006/relationships/hyperlink" Target="https://www.publicdomainpictures.net/en/view-image.php?image=86523&amp;picture=wrist-pain-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creativecommons.org/licenses/by-nc-sa/3.0/" TargetMode="External"/><Relationship Id="rId4" Type="http://schemas.openxmlformats.org/officeDocument/2006/relationships/hyperlink" Target="https://radiopaedia.org/articles/rheumatoid-arthritis-musculoskeletal-manifestations-2?lang=u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creativecommons.org/licenses/by-nc/3.0/" TargetMode="External"/><Relationship Id="rId4" Type="http://schemas.openxmlformats.org/officeDocument/2006/relationships/hyperlink" Target="https://freepngimg.com/png/84284-silhouette-icons-wallpaper-question-mark-computer-logo"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pmc.ncbi.nlm.nih.gov/"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529345" cy="3427476"/>
          </a:xfrm>
        </p:spPr>
        <p:txBody>
          <a:bodyPr anchor="ctr"/>
          <a:lstStyle/>
          <a:p>
            <a:r>
              <a:rPr lang="en-US" u="sng" dirty="0"/>
              <a:t>Rheumatoid </a:t>
            </a:r>
            <a:r>
              <a:rPr lang="en-US" u="sng" dirty="0" err="1"/>
              <a:t>arthiritis</a:t>
            </a:r>
            <a:r>
              <a:rPr lang="en-US" u="sng" dirty="0"/>
              <a:t> </a:t>
            </a:r>
            <a:r>
              <a:rPr lang="en-US" dirty="0"/>
              <a:t>detection using machine learning</a:t>
            </a:r>
          </a:p>
        </p:txBody>
      </p:sp>
      <p:pic>
        <p:nvPicPr>
          <p:cNvPr id="7" name="Picture 6" descr="A close-up of a hand with a pain in it&#10;&#10;AI-generated content may be incorrect.">
            <a:extLst>
              <a:ext uri="{FF2B5EF4-FFF2-40B4-BE49-F238E27FC236}">
                <a16:creationId xmlns:a16="http://schemas.microsoft.com/office/drawing/2014/main" id="{4B0282BE-DBAA-EDE3-2306-F6356A5AF82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8658" y="609600"/>
            <a:ext cx="2438400" cy="1687225"/>
          </a:xfrm>
          <a:prstGeom prst="rect">
            <a:avLst/>
          </a:prstGeom>
        </p:spPr>
      </p:pic>
      <p:pic>
        <p:nvPicPr>
          <p:cNvPr id="8" name="Picture 7" descr="X-ray of a hand&#10;&#10;AI-generated content may be incorrect.">
            <a:extLst>
              <a:ext uri="{FF2B5EF4-FFF2-40B4-BE49-F238E27FC236}">
                <a16:creationId xmlns:a16="http://schemas.microsoft.com/office/drawing/2014/main" id="{6DF86200-3CDB-DE38-BA8A-435C0CB2F2C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620735" y="4870620"/>
            <a:ext cx="4785845" cy="1887787"/>
          </a:xfrm>
          <a:prstGeom prst="rect">
            <a:avLst/>
          </a:prstGeom>
        </p:spPr>
      </p:pic>
      <p:sp>
        <p:nvSpPr>
          <p:cNvPr id="9" name="TextBox 8">
            <a:extLst>
              <a:ext uri="{FF2B5EF4-FFF2-40B4-BE49-F238E27FC236}">
                <a16:creationId xmlns:a16="http://schemas.microsoft.com/office/drawing/2014/main" id="{AD032C63-5766-E1ED-5BAC-64C9CEF393AB}"/>
              </a:ext>
            </a:extLst>
          </p:cNvPr>
          <p:cNvSpPr txBox="1"/>
          <p:nvPr/>
        </p:nvSpPr>
        <p:spPr>
          <a:xfrm>
            <a:off x="3620736" y="7096351"/>
            <a:ext cx="4785845" cy="230832"/>
          </a:xfrm>
          <a:prstGeom prst="rect">
            <a:avLst/>
          </a:prstGeom>
          <a:noFill/>
        </p:spPr>
        <p:txBody>
          <a:bodyPr wrap="square" rtlCol="0">
            <a:spAutoFit/>
          </a:bodyPr>
          <a:lstStyle/>
          <a:p>
            <a:r>
              <a:rPr lang="en-IN" sz="900">
                <a:hlinkClick r:id="rId6" tooltip="https://www.flickr.com/photos/myarthritis/8882225142"/>
              </a:rPr>
              <a:t>This Photo</a:t>
            </a:r>
            <a:r>
              <a:rPr lang="en-IN" sz="900"/>
              <a:t> by Unknown Author is licensed under </a:t>
            </a:r>
            <a:r>
              <a:rPr lang="en-IN" sz="900">
                <a:hlinkClick r:id="rId7" tooltip="https://creativecommons.org/licenses/by-nc/3.0/"/>
              </a:rPr>
              <a:t>CC BY-NC</a:t>
            </a:r>
            <a:endParaRPr lang="en-IN" sz="900"/>
          </a:p>
        </p:txBody>
      </p:sp>
      <p:sp>
        <p:nvSpPr>
          <p:cNvPr id="11" name="TextBox 10">
            <a:extLst>
              <a:ext uri="{FF2B5EF4-FFF2-40B4-BE49-F238E27FC236}">
                <a16:creationId xmlns:a16="http://schemas.microsoft.com/office/drawing/2014/main" id="{EF21423B-39B0-A0B2-D794-714A6D525550}"/>
              </a:ext>
            </a:extLst>
          </p:cNvPr>
          <p:cNvSpPr txBox="1"/>
          <p:nvPr/>
        </p:nvSpPr>
        <p:spPr>
          <a:xfrm>
            <a:off x="8944004" y="4450083"/>
            <a:ext cx="3110345" cy="2308324"/>
          </a:xfrm>
          <a:prstGeom prst="rect">
            <a:avLst/>
          </a:prstGeom>
          <a:solidFill>
            <a:schemeClr val="bg1">
              <a:lumMod val="75000"/>
            </a:schemeClr>
          </a:solidFill>
          <a:ln>
            <a:solidFill>
              <a:schemeClr val="tx1"/>
            </a:solidFill>
          </a:ln>
          <a:effectLst>
            <a:softEdge rad="63500"/>
          </a:effectLst>
        </p:spPr>
        <p:txBody>
          <a:bodyPr wrap="square" rtlCol="0">
            <a:spAutoFit/>
          </a:bodyPr>
          <a:lstStyle/>
          <a:p>
            <a:r>
              <a:rPr lang="en-IN" u="sng" dirty="0"/>
              <a:t>SUBMITTED BY-</a:t>
            </a:r>
            <a:r>
              <a:rPr lang="en-IN" dirty="0"/>
              <a:t> </a:t>
            </a:r>
          </a:p>
          <a:p>
            <a:r>
              <a:rPr lang="en-IN" dirty="0"/>
              <a:t>Ananya Pradhan of 1CSE1</a:t>
            </a:r>
          </a:p>
          <a:p>
            <a:endParaRPr lang="en-IN" dirty="0"/>
          </a:p>
          <a:p>
            <a:r>
              <a:rPr lang="en-IN" u="sng" dirty="0"/>
              <a:t>ADMISSION NUMBER-</a:t>
            </a:r>
          </a:p>
          <a:p>
            <a:r>
              <a:rPr lang="en-IN" dirty="0"/>
              <a:t>25SCS1003000489</a:t>
            </a:r>
          </a:p>
          <a:p>
            <a:endParaRPr lang="en-IN" dirty="0"/>
          </a:p>
          <a:p>
            <a:r>
              <a:rPr lang="en-IN" u="sng" dirty="0"/>
              <a:t>SUBMITTED TO-</a:t>
            </a:r>
          </a:p>
          <a:p>
            <a:r>
              <a:rPr lang="en-IN" dirty="0"/>
              <a:t>Mr. Shobhit</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732197"/>
          </a:xfrm>
        </p:spPr>
        <p:txBody>
          <a:bodyPr/>
          <a:lstStyle/>
          <a:p>
            <a:r>
              <a:rPr lang="en-US" u="sng" dirty="0"/>
              <a:t>INDEX</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897626"/>
            <a:ext cx="6583680" cy="4355690"/>
          </a:xfrm>
        </p:spPr>
        <p:txBody>
          <a:bodyPr>
            <a:normAutofit fontScale="92500" lnSpcReduction="10000"/>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Literature Review</a:t>
            </a:r>
          </a:p>
          <a:p>
            <a:pPr marL="342900" indent="-342900">
              <a:buFont typeface="Arial" panose="020B0604020202020204" pitchFamily="34" charset="0"/>
              <a:buChar char="•"/>
            </a:pPr>
            <a:r>
              <a:rPr lang="en-US" dirty="0"/>
              <a:t>Methodology</a:t>
            </a:r>
          </a:p>
          <a:p>
            <a:pPr marL="342900" indent="-342900">
              <a:buFont typeface="Arial" panose="020B0604020202020204" pitchFamily="34" charset="0"/>
              <a:buChar char="•"/>
            </a:pPr>
            <a:r>
              <a:rPr lang="en-US" dirty="0"/>
              <a:t>Implementation</a:t>
            </a:r>
          </a:p>
          <a:p>
            <a:pPr marL="342900" indent="-342900">
              <a:buFont typeface="Arial" panose="020B0604020202020204" pitchFamily="34" charset="0"/>
              <a:buChar char="•"/>
            </a:pPr>
            <a:r>
              <a:rPr lang="en-US" dirty="0"/>
              <a:t>Results and Discussion</a:t>
            </a:r>
          </a:p>
          <a:p>
            <a:pPr marL="342900" indent="-342900">
              <a:buFont typeface="Arial" panose="020B0604020202020204" pitchFamily="34" charset="0"/>
              <a:buChar char="•"/>
            </a:pPr>
            <a:r>
              <a:rPr lang="en-US" dirty="0"/>
              <a:t>Conclusion and future scope</a:t>
            </a:r>
          </a:p>
          <a:p>
            <a:endParaRPr lang="en-US" dirty="0"/>
          </a:p>
          <a:p>
            <a:r>
              <a:rPr lang="en-US" dirty="0"/>
              <a:t>References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876531" y="107372"/>
            <a:ext cx="5723586" cy="953990"/>
          </a:xfrm>
        </p:spPr>
        <p:txBody>
          <a:bodyPr/>
          <a:lstStyle/>
          <a:p>
            <a:r>
              <a:rPr lang="en-US" u="sng" dirty="0"/>
              <a:t>INTRODUCTION</a:t>
            </a:r>
            <a:br>
              <a:rPr lang="en-US" u="sng" dirty="0"/>
            </a:br>
            <a:endParaRPr lang="en-US" u="sng" dirty="0"/>
          </a:p>
        </p:txBody>
      </p:sp>
      <p:pic>
        <p:nvPicPr>
          <p:cNvPr id="18" name="Picture Placeholder 17" descr="X-ray of a hand with blue dots">
            <a:extLst>
              <a:ext uri="{FF2B5EF4-FFF2-40B4-BE49-F238E27FC236}">
                <a16:creationId xmlns:a16="http://schemas.microsoft.com/office/drawing/2014/main" id="{C80179FE-0745-6C06-3DEB-E1A983480559}"/>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15839" r="15839"/>
          <a:stretch>
            <a:fillRect/>
          </a:stretch>
        </p:blipFill>
        <p:spPr>
          <a:xfrm>
            <a:off x="353963" y="199785"/>
            <a:ext cx="4208206" cy="6159740"/>
          </a:xfrm>
        </p:spPr>
      </p:pic>
      <p:sp>
        <p:nvSpPr>
          <p:cNvPr id="11" name="TextBox 10">
            <a:extLst>
              <a:ext uri="{FF2B5EF4-FFF2-40B4-BE49-F238E27FC236}">
                <a16:creationId xmlns:a16="http://schemas.microsoft.com/office/drawing/2014/main" id="{153D896F-1F1D-83CF-D85A-43C3E322077C}"/>
              </a:ext>
            </a:extLst>
          </p:cNvPr>
          <p:cNvSpPr txBox="1"/>
          <p:nvPr/>
        </p:nvSpPr>
        <p:spPr>
          <a:xfrm>
            <a:off x="4788040" y="645863"/>
            <a:ext cx="6607546" cy="830997"/>
          </a:xfrm>
          <a:prstGeom prst="rect">
            <a:avLst/>
          </a:prstGeom>
          <a:noFill/>
        </p:spPr>
        <p:txBody>
          <a:bodyPr wrap="square" rtlCol="0">
            <a:spAutoFit/>
          </a:bodyPr>
          <a:lstStyle/>
          <a:p>
            <a:r>
              <a:rPr lang="en-IN" sz="2800" dirty="0">
                <a:solidFill>
                  <a:srgbClr val="7030A0"/>
                </a:solidFill>
              </a:rPr>
              <a:t>1.1 </a:t>
            </a:r>
            <a:r>
              <a:rPr lang="en-IN" sz="2800" u="sng" dirty="0">
                <a:solidFill>
                  <a:srgbClr val="7030A0"/>
                </a:solidFill>
              </a:rPr>
              <a:t>OVERVIEW</a:t>
            </a:r>
          </a:p>
          <a:p>
            <a:endParaRPr lang="en-IN" u="sng" dirty="0">
              <a:solidFill>
                <a:srgbClr val="7030A0"/>
              </a:solidFill>
            </a:endParaRPr>
          </a:p>
        </p:txBody>
      </p:sp>
      <p:sp>
        <p:nvSpPr>
          <p:cNvPr id="13" name="TextBox 12">
            <a:extLst>
              <a:ext uri="{FF2B5EF4-FFF2-40B4-BE49-F238E27FC236}">
                <a16:creationId xmlns:a16="http://schemas.microsoft.com/office/drawing/2014/main" id="{94FAFAE8-D3F3-95A4-6F46-1ADBF14F2CF6}"/>
              </a:ext>
            </a:extLst>
          </p:cNvPr>
          <p:cNvSpPr txBox="1"/>
          <p:nvPr/>
        </p:nvSpPr>
        <p:spPr>
          <a:xfrm>
            <a:off x="4699549" y="1368801"/>
            <a:ext cx="7138489" cy="49907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70C0"/>
                </a:solidFill>
              </a:rPr>
              <a:t>Rheumatoid arthritis (RA) is a chronic autoimmune disease that causes inflammation of joints, leading to pain, stiffness, and potential joint damage. </a:t>
            </a:r>
          </a:p>
          <a:p>
            <a:pPr marL="285750" indent="-285750">
              <a:buFont typeface="Arial" panose="020B0604020202020204" pitchFamily="34" charset="0"/>
              <a:buChar char="•"/>
            </a:pPr>
            <a:r>
              <a:rPr lang="en-US" dirty="0">
                <a:solidFill>
                  <a:srgbClr val="0070C0"/>
                </a:solidFill>
              </a:rPr>
              <a:t>Early detection of RA is critical because timely treatment can help prevent irreversible joint damage and improve long-term outcomes</a:t>
            </a:r>
          </a:p>
          <a:p>
            <a:pPr marL="285750" indent="-285750">
              <a:buFont typeface="Arial" panose="020B0604020202020204" pitchFamily="34" charset="0"/>
              <a:buChar char="•"/>
            </a:pPr>
            <a:r>
              <a:rPr lang="en-US" dirty="0">
                <a:solidFill>
                  <a:srgbClr val="0070C0"/>
                </a:solidFill>
              </a:rPr>
              <a:t>Traditional diagnostic methods rely on clinical evaluation, lab tests (e.g., rheumatoid factor, anti-CCP antibodies) , imaging (like X-rays), and physician expertise. These methods can be time-consuming, sometimes subjective, and may not detect early disease.</a:t>
            </a:r>
          </a:p>
          <a:p>
            <a:pPr marL="285750" indent="-285750">
              <a:buFont typeface="Arial" panose="020B0604020202020204" pitchFamily="34" charset="0"/>
              <a:buChar char="•"/>
            </a:pPr>
            <a:r>
              <a:rPr lang="en-US" dirty="0">
                <a:solidFill>
                  <a:srgbClr val="0070C0"/>
                </a:solidFill>
              </a:rPr>
              <a:t>Machine learning offers a powerful tool to analyze large, multidimensional datasets — including electronic health records (EHR), lab data, imaging, and even genomics — to find patterns that might indicate RA much earlier or more accurately than traditional methods.</a:t>
            </a:r>
          </a:p>
          <a:p>
            <a:pPr marL="285750" indent="-285750">
              <a:buFont typeface="Arial" panose="020B0604020202020204" pitchFamily="34" charset="0"/>
              <a:buChar char="•"/>
            </a:pPr>
            <a:r>
              <a:rPr lang="en-US" dirty="0">
                <a:solidFill>
                  <a:srgbClr val="0070C0"/>
                </a:solidFill>
              </a:rPr>
              <a:t>However, there are challenges: model interpretability, generalizability, overfitting, data quality, and clinical integration remain major obstacles.</a:t>
            </a:r>
            <a:endParaRPr lang="en-IN" dirty="0">
              <a:solidFill>
                <a:srgbClr val="0070C0"/>
              </a:solidFill>
            </a:endParaRPr>
          </a:p>
        </p:txBody>
      </p:sp>
      <p:sp>
        <p:nvSpPr>
          <p:cNvPr id="19" name="TextBox 18">
            <a:extLst>
              <a:ext uri="{FF2B5EF4-FFF2-40B4-BE49-F238E27FC236}">
                <a16:creationId xmlns:a16="http://schemas.microsoft.com/office/drawing/2014/main" id="{E9CE2873-267F-D7A6-AB66-E7D4EBE84352}"/>
              </a:ext>
            </a:extLst>
          </p:cNvPr>
          <p:cNvSpPr txBox="1"/>
          <p:nvPr/>
        </p:nvSpPr>
        <p:spPr>
          <a:xfrm>
            <a:off x="353962" y="6359525"/>
            <a:ext cx="4344695" cy="230832"/>
          </a:xfrm>
          <a:prstGeom prst="rect">
            <a:avLst/>
          </a:prstGeom>
          <a:noFill/>
        </p:spPr>
        <p:txBody>
          <a:bodyPr wrap="square" rtlCol="0">
            <a:spAutoFit/>
          </a:bodyPr>
          <a:lstStyle/>
          <a:p>
            <a:r>
              <a:rPr lang="en-IN" sz="900">
                <a:hlinkClick r:id="rId4" tooltip="https://radiopaedia.org/articles/rheumatoid-arthritis-musculoskeletal-manifestations-2?lang=us"/>
              </a:rPr>
              <a:t>This Photo</a:t>
            </a:r>
            <a:r>
              <a:rPr lang="en-IN" sz="900"/>
              <a:t> by Unknown Author is licensed under </a:t>
            </a:r>
            <a:r>
              <a:rPr lang="en-IN" sz="900">
                <a:hlinkClick r:id="rId5" tooltip="https://creativecommons.org/licenses/by-nc-sa/3.0/"/>
              </a:rPr>
              <a:t>CC BY-SA-NC</a:t>
            </a:r>
            <a:endParaRPr lang="en-IN" sz="90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433111" y="1052052"/>
            <a:ext cx="6842760" cy="5230761"/>
          </a:xfrm>
        </p:spPr>
        <p:txBody>
          <a:bodyPr>
            <a:normAutofit/>
          </a:bodyPr>
          <a:lstStyle/>
          <a:p>
            <a:pPr marL="342900" indent="-342900">
              <a:buFont typeface="Arial" panose="020B0604020202020204" pitchFamily="34" charset="0"/>
              <a:buChar char="•"/>
            </a:pPr>
            <a:r>
              <a:rPr lang="en-US" sz="2000" dirty="0">
                <a:solidFill>
                  <a:srgbClr val="0070C0"/>
                </a:solidFill>
              </a:rPr>
              <a:t>Develop a machine learning model that can classify patients as having RA (vs not) using clinical data, lab results, and/or imaging.</a:t>
            </a:r>
          </a:p>
          <a:p>
            <a:pPr marL="342900" indent="-342900">
              <a:buFont typeface="Arial" panose="020B0604020202020204" pitchFamily="34" charset="0"/>
              <a:buChar char="•"/>
            </a:pPr>
            <a:r>
              <a:rPr lang="en-US" sz="2000" dirty="0">
                <a:solidFill>
                  <a:srgbClr val="0070C0"/>
                </a:solidFill>
              </a:rPr>
              <a:t>Improve early detection of RA, ideally before pronounced symptoms or radiographic damage.</a:t>
            </a:r>
          </a:p>
          <a:p>
            <a:endParaRPr lang="en-US" sz="2000" dirty="0">
              <a:solidFill>
                <a:srgbClr val="0070C0"/>
              </a:solidFill>
            </a:endParaRPr>
          </a:p>
          <a:p>
            <a:endParaRPr lang="en-US" sz="2000" dirty="0">
              <a:solidFill>
                <a:srgbClr val="0070C0"/>
              </a:solidFill>
            </a:endParaRPr>
          </a:p>
          <a:p>
            <a:r>
              <a:rPr lang="en-US" sz="2800" b="1" u="sng" dirty="0">
                <a:solidFill>
                  <a:srgbClr val="7030A0"/>
                </a:solidFill>
              </a:rPr>
              <a:t>1.3 PROBLEM STATEMENT</a:t>
            </a:r>
          </a:p>
          <a:p>
            <a:endParaRPr lang="en-US" sz="2800" b="1" u="sng" dirty="0">
              <a:solidFill>
                <a:srgbClr val="7030A0"/>
              </a:solidFill>
            </a:endParaRPr>
          </a:p>
          <a:p>
            <a:r>
              <a:rPr lang="en-US" sz="2000" dirty="0">
                <a:solidFill>
                  <a:srgbClr val="0070C0"/>
                </a:solidFill>
              </a:rPr>
              <a:t>Rheumatoid arthritis is a progressive autoimmune disease that is difficult to diagnose early using conventional clinical, lab, and imaging methods.</a:t>
            </a:r>
          </a:p>
          <a:p>
            <a:endParaRPr lang="en-US" sz="2000" dirty="0">
              <a:solidFill>
                <a:srgbClr val="0070C0"/>
              </a:solidFill>
            </a:endParaRPr>
          </a:p>
        </p:txBody>
      </p:sp>
      <p:sp>
        <p:nvSpPr>
          <p:cNvPr id="5" name="Title 4">
            <a:extLst>
              <a:ext uri="{FF2B5EF4-FFF2-40B4-BE49-F238E27FC236}">
                <a16:creationId xmlns:a16="http://schemas.microsoft.com/office/drawing/2014/main" id="{7816E752-CF99-B6A2-91B5-A4A1B2BDE3EE}"/>
              </a:ext>
            </a:extLst>
          </p:cNvPr>
          <p:cNvSpPr>
            <a:spLocks noGrp="1"/>
          </p:cNvSpPr>
          <p:nvPr>
            <p:ph type="title"/>
          </p:nvPr>
        </p:nvSpPr>
        <p:spPr>
          <a:xfrm>
            <a:off x="530942" y="464668"/>
            <a:ext cx="5259554" cy="351350"/>
          </a:xfrm>
        </p:spPr>
        <p:txBody>
          <a:bodyPr/>
          <a:lstStyle/>
          <a:p>
            <a:r>
              <a:rPr lang="en-IN" sz="2400" b="0" u="sng" dirty="0">
                <a:solidFill>
                  <a:srgbClr val="7030A0"/>
                </a:solidFill>
              </a:rPr>
              <a:t>1.2 Objectives</a:t>
            </a:r>
          </a:p>
        </p:txBody>
      </p:sp>
      <p:pic>
        <p:nvPicPr>
          <p:cNvPr id="8" name="Picture 7" descr="A black and white silhouette of a person's face&#10;&#10;AI-generated content may be incorrect.">
            <a:extLst>
              <a:ext uri="{FF2B5EF4-FFF2-40B4-BE49-F238E27FC236}">
                <a16:creationId xmlns:a16="http://schemas.microsoft.com/office/drawing/2014/main" id="{3F1EABEB-1C02-4FCE-92E6-FAA0FA6F41F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196781" y="115416"/>
            <a:ext cx="6858000" cy="6858000"/>
          </a:xfrm>
          <a:prstGeom prst="rect">
            <a:avLst/>
          </a:prstGeom>
        </p:spPr>
      </p:pic>
      <p:sp>
        <p:nvSpPr>
          <p:cNvPr id="9" name="TextBox 8">
            <a:extLst>
              <a:ext uri="{FF2B5EF4-FFF2-40B4-BE49-F238E27FC236}">
                <a16:creationId xmlns:a16="http://schemas.microsoft.com/office/drawing/2014/main" id="{7B394FC0-8A29-63FC-BC8A-6BE01508D4DD}"/>
              </a:ext>
            </a:extLst>
          </p:cNvPr>
          <p:cNvSpPr txBox="1"/>
          <p:nvPr/>
        </p:nvSpPr>
        <p:spPr>
          <a:xfrm>
            <a:off x="2667000" y="6858000"/>
            <a:ext cx="6858000" cy="230832"/>
          </a:xfrm>
          <a:prstGeom prst="rect">
            <a:avLst/>
          </a:prstGeom>
          <a:noFill/>
        </p:spPr>
        <p:txBody>
          <a:bodyPr wrap="square" rtlCol="0">
            <a:spAutoFit/>
          </a:bodyPr>
          <a:lstStyle/>
          <a:p>
            <a:r>
              <a:rPr lang="en-IN" sz="900">
                <a:hlinkClick r:id="rId4" tooltip="https://freepngimg.com/png/84284-silhouette-icons-wallpaper-question-mark-computer-logo"/>
              </a:rPr>
              <a:t>This Photo</a:t>
            </a:r>
            <a:r>
              <a:rPr lang="en-IN" sz="900"/>
              <a:t> by Unknown Author is licensed under </a:t>
            </a:r>
            <a:r>
              <a:rPr lang="en-IN" sz="900">
                <a:hlinkClick r:id="rId5" tooltip="https://creativecommons.org/licenses/by-nc/3.0/"/>
              </a:rPr>
              <a:t>CC BY-NC</a:t>
            </a:r>
            <a:endParaRPr lang="en-IN" sz="900"/>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LITERATURE REVIEW</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r>
              <a:rPr lang="en-US" dirty="0">
                <a:solidFill>
                  <a:srgbClr val="0070C0"/>
                </a:solidFill>
              </a:rPr>
              <a:t>There is growing interest in applying </a:t>
            </a:r>
            <a:r>
              <a:rPr lang="en-US" b="1" dirty="0">
                <a:solidFill>
                  <a:srgbClr val="0070C0"/>
                </a:solidFill>
              </a:rPr>
              <a:t>machine learning (ML)</a:t>
            </a:r>
            <a:r>
              <a:rPr lang="en-US" dirty="0">
                <a:solidFill>
                  <a:srgbClr val="0070C0"/>
                </a:solidFill>
              </a:rPr>
              <a:t> and </a:t>
            </a:r>
            <a:r>
              <a:rPr lang="en-US" b="1" dirty="0">
                <a:solidFill>
                  <a:srgbClr val="0070C0"/>
                </a:solidFill>
              </a:rPr>
              <a:t>artificial intelligence (AI)</a:t>
            </a:r>
            <a:r>
              <a:rPr lang="en-US" dirty="0">
                <a:solidFill>
                  <a:srgbClr val="0070C0"/>
                </a:solidFill>
              </a:rPr>
              <a:t> to RA for various tasks: diagnosis, prognosis, treatment response, and radiographic scoring. </a:t>
            </a:r>
          </a:p>
          <a:p>
            <a:r>
              <a:rPr lang="en-US" dirty="0">
                <a:solidFill>
                  <a:srgbClr val="0070C0"/>
                </a:solidFill>
              </a:rPr>
              <a:t>A bibliometric study of AI in rheumatic diseases showed increasing research trends, especially in RA, with hotspots around early diagnosis, management, and personalized medicine. </a:t>
            </a:r>
          </a:p>
          <a:p>
            <a:r>
              <a:rPr lang="en-US" dirty="0">
                <a:solidFill>
                  <a:srgbClr val="0070C0"/>
                </a:solidFill>
              </a:rPr>
              <a:t>However, despite progress, there are significant challenges: small datasets, lack of standardization, interpretability, and clinical translation.</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6388F7-5010-E61B-11B0-2E5FEED4A1B9}"/>
              </a:ext>
            </a:extLst>
          </p:cNvPr>
          <p:cNvSpPr>
            <a:spLocks noGrp="1"/>
          </p:cNvSpPr>
          <p:nvPr>
            <p:ph type="sldNum" sz="quarter" idx="12"/>
          </p:nvPr>
        </p:nvSpPr>
        <p:spPr/>
        <p:txBody>
          <a:bodyPr/>
          <a:lstStyle/>
          <a:p>
            <a:fld id="{48F63A3B-78C7-47BE-AE5E-E10140E04643}" type="slidenum">
              <a:rPr lang="en-US" smtClean="0"/>
              <a:pPr/>
              <a:t>6</a:t>
            </a:fld>
            <a:endParaRPr lang="en-US" dirty="0"/>
          </a:p>
        </p:txBody>
      </p:sp>
      <p:graphicFrame>
        <p:nvGraphicFramePr>
          <p:cNvPr id="3" name="Table 2">
            <a:extLst>
              <a:ext uri="{FF2B5EF4-FFF2-40B4-BE49-F238E27FC236}">
                <a16:creationId xmlns:a16="http://schemas.microsoft.com/office/drawing/2014/main" id="{25940779-80D7-06DB-1A16-BF4A79C780EF}"/>
              </a:ext>
            </a:extLst>
          </p:cNvPr>
          <p:cNvGraphicFramePr>
            <a:graphicFrameLocks noGrp="1"/>
          </p:cNvGraphicFramePr>
          <p:nvPr>
            <p:extLst>
              <p:ext uri="{D42A27DB-BD31-4B8C-83A1-F6EECF244321}">
                <p14:modId xmlns:p14="http://schemas.microsoft.com/office/powerpoint/2010/main" val="4246696152"/>
              </p:ext>
            </p:extLst>
          </p:nvPr>
        </p:nvGraphicFramePr>
        <p:xfrm>
          <a:off x="-9832" y="0"/>
          <a:ext cx="12192000" cy="15925800"/>
        </p:xfrm>
        <a:graphic>
          <a:graphicData uri="http://schemas.openxmlformats.org/drawingml/2006/table">
            <a:tbl>
              <a:tblPr firstRow="1" bandRow="1">
                <a:tableStyleId>{22838BEF-8BB2-4498-84A7-C5851F593DF1}</a:tableStyleId>
              </a:tblPr>
              <a:tblGrid>
                <a:gridCol w="776123">
                  <a:extLst>
                    <a:ext uri="{9D8B030D-6E8A-4147-A177-3AD203B41FA5}">
                      <a16:colId xmlns:a16="http://schemas.microsoft.com/office/drawing/2014/main" val="2788104573"/>
                    </a:ext>
                  </a:extLst>
                </a:gridCol>
                <a:gridCol w="2348017">
                  <a:extLst>
                    <a:ext uri="{9D8B030D-6E8A-4147-A177-3AD203B41FA5}">
                      <a16:colId xmlns:a16="http://schemas.microsoft.com/office/drawing/2014/main" val="2445085687"/>
                    </a:ext>
                  </a:extLst>
                </a:gridCol>
                <a:gridCol w="1512948">
                  <a:extLst>
                    <a:ext uri="{9D8B030D-6E8A-4147-A177-3AD203B41FA5}">
                      <a16:colId xmlns:a16="http://schemas.microsoft.com/office/drawing/2014/main" val="746457057"/>
                    </a:ext>
                  </a:extLst>
                </a:gridCol>
                <a:gridCol w="1984515">
                  <a:extLst>
                    <a:ext uri="{9D8B030D-6E8A-4147-A177-3AD203B41FA5}">
                      <a16:colId xmlns:a16="http://schemas.microsoft.com/office/drawing/2014/main" val="3083698448"/>
                    </a:ext>
                  </a:extLst>
                </a:gridCol>
                <a:gridCol w="2200650">
                  <a:extLst>
                    <a:ext uri="{9D8B030D-6E8A-4147-A177-3AD203B41FA5}">
                      <a16:colId xmlns:a16="http://schemas.microsoft.com/office/drawing/2014/main" val="3469827781"/>
                    </a:ext>
                  </a:extLst>
                </a:gridCol>
                <a:gridCol w="1629436">
                  <a:extLst>
                    <a:ext uri="{9D8B030D-6E8A-4147-A177-3AD203B41FA5}">
                      <a16:colId xmlns:a16="http://schemas.microsoft.com/office/drawing/2014/main" val="1027908050"/>
                    </a:ext>
                  </a:extLst>
                </a:gridCol>
                <a:gridCol w="1740311">
                  <a:extLst>
                    <a:ext uri="{9D8B030D-6E8A-4147-A177-3AD203B41FA5}">
                      <a16:colId xmlns:a16="http://schemas.microsoft.com/office/drawing/2014/main" val="3000256173"/>
                    </a:ext>
                  </a:extLst>
                </a:gridCol>
              </a:tblGrid>
              <a:tr h="571026">
                <a:tc>
                  <a:txBody>
                    <a:bodyPr/>
                    <a:lstStyle/>
                    <a:p>
                      <a:pPr algn="ctr"/>
                      <a:r>
                        <a:rPr lang="en-IN" dirty="0"/>
                        <a:t>S.NO</a:t>
                      </a:r>
                    </a:p>
                  </a:txBody>
                  <a:tcPr/>
                </a:tc>
                <a:tc>
                  <a:txBody>
                    <a:bodyPr/>
                    <a:lstStyle/>
                    <a:p>
                      <a:pPr algn="ctr"/>
                      <a:r>
                        <a:rPr lang="en-IN" dirty="0"/>
                        <a:t>AUTHOR’s NAME</a:t>
                      </a:r>
                    </a:p>
                    <a:p>
                      <a:pPr algn="ctr"/>
                      <a:r>
                        <a:rPr lang="en-IN" dirty="0"/>
                        <a:t>[year]</a:t>
                      </a:r>
                    </a:p>
                  </a:txBody>
                  <a:tcPr/>
                </a:tc>
                <a:tc>
                  <a:txBody>
                    <a:bodyPr/>
                    <a:lstStyle/>
                    <a:p>
                      <a:pPr algn="ctr"/>
                      <a:r>
                        <a:rPr lang="en-IN" dirty="0"/>
                        <a:t>DATASET</a:t>
                      </a:r>
                    </a:p>
                  </a:txBody>
                  <a:tcPr/>
                </a:tc>
                <a:tc>
                  <a:txBody>
                    <a:bodyPr/>
                    <a:lstStyle/>
                    <a:p>
                      <a:pPr algn="ctr"/>
                      <a:r>
                        <a:rPr lang="en-IN" dirty="0"/>
                        <a:t>ALGORITHM &amp; TECHNIQUE</a:t>
                      </a:r>
                    </a:p>
                  </a:txBody>
                  <a:tcPr/>
                </a:tc>
                <a:tc>
                  <a:txBody>
                    <a:bodyPr/>
                    <a:lstStyle/>
                    <a:p>
                      <a:pPr algn="ctr"/>
                      <a:r>
                        <a:rPr lang="en-IN" dirty="0"/>
                        <a:t>ERRORLOADING MECHANISM</a:t>
                      </a:r>
                    </a:p>
                  </a:txBody>
                  <a:tcPr/>
                </a:tc>
                <a:tc>
                  <a:txBody>
                    <a:bodyPr/>
                    <a:lstStyle/>
                    <a:p>
                      <a:pPr algn="ctr"/>
                      <a:r>
                        <a:rPr lang="en-IN" dirty="0"/>
                        <a:t>RESULT</a:t>
                      </a:r>
                    </a:p>
                  </a:txBody>
                  <a:tcPr/>
                </a:tc>
                <a:tc>
                  <a:txBody>
                    <a:bodyPr/>
                    <a:lstStyle/>
                    <a:p>
                      <a:pPr algn="ctr"/>
                      <a:r>
                        <a:rPr lang="en-IN" dirty="0"/>
                        <a:t>REMARK</a:t>
                      </a:r>
                    </a:p>
                  </a:txBody>
                  <a:tcPr/>
                </a:tc>
                <a:extLst>
                  <a:ext uri="{0D108BD9-81ED-4DB2-BD59-A6C34878D82A}">
                    <a16:rowId xmlns:a16="http://schemas.microsoft.com/office/drawing/2014/main" val="3074384602"/>
                  </a:ext>
                </a:extLst>
              </a:tr>
              <a:tr h="815752">
                <a:tc>
                  <a:txBody>
                    <a:bodyPr/>
                    <a:lstStyle/>
                    <a:p>
                      <a:pPr algn="ctr"/>
                      <a:r>
                        <a:rPr lang="en-IN" dirty="0"/>
                        <a:t>1.</a:t>
                      </a:r>
                    </a:p>
                  </a:txBody>
                  <a:tcPr/>
                </a:tc>
                <a:tc>
                  <a:txBody>
                    <a:bodyPr/>
                    <a:lstStyle/>
                    <a:p>
                      <a:pPr algn="ctr"/>
                      <a:r>
                        <a:rPr lang="en-IN" sz="1100" dirty="0"/>
                        <a:t>Hajar </a:t>
                      </a:r>
                      <a:r>
                        <a:rPr lang="en-IN" sz="1100" dirty="0" err="1"/>
                        <a:t>Moradmand</a:t>
                      </a:r>
                      <a:r>
                        <a:rPr lang="en-IN" sz="1100" dirty="0"/>
                        <a:t> &amp; Lei Ren</a:t>
                      </a:r>
                    </a:p>
                    <a:p>
                      <a:pPr algn="ctr"/>
                      <a:r>
                        <a:rPr lang="en-IN" sz="1100" dirty="0"/>
                        <a:t>[2025]</a:t>
                      </a:r>
                    </a:p>
                  </a:txBody>
                  <a:tcPr/>
                </a:tc>
                <a:tc>
                  <a:txBody>
                    <a:bodyPr/>
                    <a:lstStyle/>
                    <a:p>
                      <a:pPr algn="ctr"/>
                      <a:r>
                        <a:rPr lang="en-IN" sz="1000" dirty="0"/>
                        <a:t>https://www.nature.com/articles/s41598-025-86073-0</a:t>
                      </a:r>
                    </a:p>
                  </a:txBody>
                  <a:tcPr/>
                </a:tc>
                <a:tc>
                  <a:txBody>
                    <a:bodyPr/>
                    <a:lstStyle/>
                    <a:p>
                      <a:pPr algn="ctr"/>
                      <a:r>
                        <a:rPr lang="en-US" sz="1100" b="0" i="0" kern="1200" dirty="0">
                          <a:solidFill>
                            <a:schemeClr val="dk1"/>
                          </a:solidFill>
                          <a:effectLst/>
                          <a:latin typeface="+mn-lt"/>
                          <a:ea typeface="+mn-ea"/>
                          <a:cs typeface="+mn-cs"/>
                        </a:rPr>
                        <a:t>automated radiographic overall Sharp Scoring (AROSS) framework</a:t>
                      </a:r>
                      <a:endParaRPr lang="en-IN" sz="1100" dirty="0"/>
                    </a:p>
                  </a:txBody>
                  <a:tcPr/>
                </a:tc>
                <a:tc>
                  <a:txBody>
                    <a:bodyPr/>
                    <a:lstStyle/>
                    <a:p>
                      <a:pPr algn="ctr"/>
                      <a:r>
                        <a:rPr lang="en-US" sz="1100" b="0" i="0" kern="1200" dirty="0">
                          <a:solidFill>
                            <a:schemeClr val="dk1"/>
                          </a:solidFill>
                          <a:effectLst/>
                          <a:latin typeface="+mn-lt"/>
                          <a:ea typeface="+mn-ea"/>
                          <a:cs typeface="+mn-cs"/>
                        </a:rPr>
                        <a:t>Root Mean Squared Error (RMSE)</a:t>
                      </a:r>
                    </a:p>
                    <a:p>
                      <a:pPr algn="ctr"/>
                      <a:r>
                        <a:rPr lang="en-IN" sz="1100" b="0" i="1" kern="1200" dirty="0">
                          <a:solidFill>
                            <a:schemeClr val="dk1"/>
                          </a:solidFill>
                          <a:effectLst/>
                          <a:latin typeface="+mn-lt"/>
                          <a:ea typeface="+mn-ea"/>
                          <a:cs typeface="+mn-cs"/>
                        </a:rPr>
                        <a:t>Huber Loss</a:t>
                      </a:r>
                      <a:endParaRPr lang="en-IN" sz="1100" b="0" dirty="0"/>
                    </a:p>
                  </a:txBody>
                  <a:tcPr/>
                </a:tc>
                <a:tc>
                  <a:txBody>
                    <a:bodyPr/>
                    <a:lstStyle/>
                    <a:p>
                      <a:pPr algn="ctr"/>
                      <a:r>
                        <a:rPr lang="en-US" sz="900" b="0" i="0" kern="1200" dirty="0">
                          <a:solidFill>
                            <a:schemeClr val="dk1"/>
                          </a:solidFill>
                          <a:effectLst/>
                          <a:latin typeface="+mn-lt"/>
                          <a:ea typeface="+mn-ea"/>
                          <a:cs typeface="+mn-cs"/>
                        </a:rPr>
                        <a:t>After training a U-Net model on a dataset of hand images, we achieved precise segmentation of the hand region from the background in each radiographic image</a:t>
                      </a:r>
                      <a:endParaRPr lang="en-IN" sz="900" dirty="0"/>
                    </a:p>
                  </a:txBody>
                  <a:tcPr/>
                </a:tc>
                <a:tc>
                  <a:txBody>
                    <a:bodyPr/>
                    <a:lstStyle/>
                    <a:p>
                      <a:pPr algn="ctr"/>
                      <a:r>
                        <a:rPr lang="en-US" sz="900" b="0" i="0" kern="1200" dirty="0">
                          <a:solidFill>
                            <a:schemeClr val="dk1"/>
                          </a:solidFill>
                          <a:effectLst/>
                          <a:latin typeface="+mn-lt"/>
                          <a:ea typeface="+mn-ea"/>
                          <a:cs typeface="+mn-cs"/>
                        </a:rPr>
                        <a:t>This study enhances automated joint assessment in rheumatoid arthritis through deep learning. </a:t>
                      </a:r>
                      <a:endParaRPr lang="en-IN" sz="900" dirty="0"/>
                    </a:p>
                  </a:txBody>
                  <a:tcPr/>
                </a:tc>
                <a:extLst>
                  <a:ext uri="{0D108BD9-81ED-4DB2-BD59-A6C34878D82A}">
                    <a16:rowId xmlns:a16="http://schemas.microsoft.com/office/drawing/2014/main" val="2599872719"/>
                  </a:ext>
                </a:extLst>
              </a:tr>
              <a:tr h="842944">
                <a:tc>
                  <a:txBody>
                    <a:bodyPr/>
                    <a:lstStyle/>
                    <a:p>
                      <a:pPr algn="ctr"/>
                      <a:r>
                        <a:rPr lang="en-IN" dirty="0"/>
                        <a:t>2.</a:t>
                      </a:r>
                    </a:p>
                  </a:txBody>
                  <a:tcPr/>
                </a:tc>
                <a:tc>
                  <a:txBody>
                    <a:bodyPr/>
                    <a:lstStyle/>
                    <a:p>
                      <a:pPr algn="ctr"/>
                      <a:r>
                        <a:rPr lang="en-IN" sz="1100" dirty="0"/>
                        <a:t>Xiaoli Hu, </a:t>
                      </a:r>
                      <a:r>
                        <a:rPr lang="en-IN" sz="1100" dirty="0" err="1"/>
                        <a:t>Xianmei</a:t>
                      </a:r>
                      <a:r>
                        <a:rPr lang="en-IN" sz="1100" dirty="0"/>
                        <a:t> Liu, Yuan Xu, Shuai Zhang, Jun Liu &amp; Shi Zhou</a:t>
                      </a:r>
                    </a:p>
                    <a:p>
                      <a:pPr algn="ctr"/>
                      <a:r>
                        <a:rPr lang="en-IN" sz="1100" dirty="0"/>
                        <a:t>[2025]</a:t>
                      </a:r>
                    </a:p>
                  </a:txBody>
                  <a:tcPr/>
                </a:tc>
                <a:tc>
                  <a:txBody>
                    <a:bodyPr/>
                    <a:lstStyle/>
                    <a:p>
                      <a:pPr algn="ctr"/>
                      <a:r>
                        <a:rPr lang="en-IN" sz="1000" dirty="0"/>
                        <a:t>https://link.springer.com/article/10.1007/s10067-025-07304-3</a:t>
                      </a:r>
                    </a:p>
                  </a:txBody>
                  <a:tcPr/>
                </a:tc>
                <a:tc>
                  <a:txBody>
                    <a:bodyPr/>
                    <a:lstStyle/>
                    <a:p>
                      <a:pPr algn="ctr"/>
                      <a:r>
                        <a:rPr lang="en-IN" sz="1200" dirty="0"/>
                        <a:t>Random Forest (</a:t>
                      </a:r>
                      <a:r>
                        <a:rPr lang="en-IN" sz="1200" dirty="0" err="1"/>
                        <a:t>RnFr</a:t>
                      </a:r>
                      <a:r>
                        <a:rPr lang="en-IN" sz="1200" dirty="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SHAP (</a:t>
                      </a:r>
                      <a:r>
                        <a:rPr lang="en-US" sz="1100" dirty="0" err="1"/>
                        <a:t>SHapley</a:t>
                      </a:r>
                      <a:r>
                        <a:rPr lang="en-US" sz="1100" dirty="0"/>
                        <a:t> Additive </a:t>
                      </a:r>
                      <a:r>
                        <a:rPr lang="en-US" sz="1100" dirty="0" err="1"/>
                        <a:t>exPlanations</a:t>
                      </a:r>
                      <a:r>
                        <a:rPr lang="en-US" sz="1100" dirty="0"/>
                        <a:t>) analysis</a:t>
                      </a:r>
                      <a:endParaRPr lang="en-IN" sz="1100" dirty="0"/>
                    </a:p>
                    <a:p>
                      <a:pPr algn="ctr"/>
                      <a:endParaRPr lang="en-IN" dirty="0"/>
                    </a:p>
                  </a:txBody>
                  <a:tcPr/>
                </a:tc>
                <a:tc>
                  <a:txBody>
                    <a:bodyPr/>
                    <a:lstStyle/>
                    <a:p>
                      <a:pPr algn="ctr"/>
                      <a:r>
                        <a:rPr lang="en-US" sz="1000" dirty="0"/>
                        <a:t>Of the 432 patients, 152 (35.2%) progressed to the RA group, while 280 (64.8%) remained in the non-RA group</a:t>
                      </a:r>
                      <a:endParaRPr lang="en-IN" sz="1000" dirty="0"/>
                    </a:p>
                  </a:txBody>
                  <a:tcPr/>
                </a:tc>
                <a:tc>
                  <a:txBody>
                    <a:bodyPr/>
                    <a:lstStyle/>
                    <a:p>
                      <a:pPr algn="ctr"/>
                      <a:r>
                        <a:rPr lang="en-US" sz="800" dirty="0"/>
                        <a:t>Integrating the US18 assessment with clinical data in an </a:t>
                      </a:r>
                      <a:r>
                        <a:rPr lang="en-US" sz="800" dirty="0" err="1"/>
                        <a:t>RnFr</a:t>
                      </a:r>
                      <a:r>
                        <a:rPr lang="en-US" sz="800" dirty="0"/>
                        <a:t> model significantly improves early detection of RA progression in UA patients, offering potential for earlier and more personalized treatments.</a:t>
                      </a:r>
                      <a:endParaRPr lang="en-IN" sz="800" dirty="0"/>
                    </a:p>
                  </a:txBody>
                  <a:tcPr/>
                </a:tc>
                <a:extLst>
                  <a:ext uri="{0D108BD9-81ED-4DB2-BD59-A6C34878D82A}">
                    <a16:rowId xmlns:a16="http://schemas.microsoft.com/office/drawing/2014/main" val="2920739153"/>
                  </a:ext>
                </a:extLst>
              </a:tr>
              <a:tr h="1060478">
                <a:tc>
                  <a:txBody>
                    <a:bodyPr/>
                    <a:lstStyle/>
                    <a:p>
                      <a:pPr algn="ctr"/>
                      <a:r>
                        <a:rPr lang="en-IN" dirty="0"/>
                        <a:t>3.</a:t>
                      </a:r>
                    </a:p>
                  </a:txBody>
                  <a:tcPr/>
                </a:tc>
                <a:tc>
                  <a:txBody>
                    <a:bodyPr/>
                    <a:lstStyle/>
                    <a:p>
                      <a:pPr algn="ctr"/>
                      <a:r>
                        <a:rPr lang="en-IN" sz="800" dirty="0" err="1"/>
                        <a:t>Rongheng</a:t>
                      </a:r>
                      <a:r>
                        <a:rPr lang="en-IN" sz="800" dirty="0"/>
                        <a:t> </a:t>
                      </a:r>
                      <a:r>
                        <a:rPr lang="en-IN" sz="800" dirty="0" err="1"/>
                        <a:t>MaLiping</a:t>
                      </a:r>
                      <a:r>
                        <a:rPr lang="en-IN" sz="800" dirty="0"/>
                        <a:t> </a:t>
                      </a:r>
                      <a:r>
                        <a:rPr lang="en-IN" sz="800" dirty="0" err="1"/>
                        <a:t>ZhouShuang</a:t>
                      </a:r>
                      <a:r>
                        <a:rPr lang="en-IN" sz="800" dirty="0"/>
                        <a:t> </a:t>
                      </a:r>
                      <a:r>
                        <a:rPr lang="en-IN" sz="800" dirty="0" err="1"/>
                        <a:t>JiangXiaojiao</a:t>
                      </a:r>
                      <a:r>
                        <a:rPr lang="en-IN" sz="800" dirty="0"/>
                        <a:t> </a:t>
                      </a:r>
                      <a:r>
                        <a:rPr lang="en-IN" sz="800" dirty="0" err="1"/>
                        <a:t>ZhaoRuiyao</a:t>
                      </a:r>
                      <a:r>
                        <a:rPr lang="en-IN" sz="800" dirty="0"/>
                        <a:t> </a:t>
                      </a:r>
                      <a:r>
                        <a:rPr lang="en-IN" sz="800" dirty="0" err="1"/>
                        <a:t>MaJin</a:t>
                      </a:r>
                      <a:r>
                        <a:rPr lang="en-IN" sz="800" dirty="0"/>
                        <a:t> </a:t>
                      </a:r>
                      <a:r>
                        <a:rPr lang="en-IN" sz="800" dirty="0" err="1"/>
                        <a:t>SunLing</a:t>
                      </a:r>
                      <a:r>
                        <a:rPr lang="en-IN" sz="800" dirty="0"/>
                        <a:t> </a:t>
                      </a:r>
                      <a:r>
                        <a:rPr lang="en-IN" sz="800" dirty="0" err="1"/>
                        <a:t>XiaXu</a:t>
                      </a:r>
                      <a:r>
                        <a:rPr lang="en-IN" sz="800" dirty="0"/>
                        <a:t> </a:t>
                      </a:r>
                      <a:r>
                        <a:rPr lang="en-IN" sz="800" dirty="0" err="1"/>
                        <a:t>LiuXiaoting</a:t>
                      </a:r>
                      <a:r>
                        <a:rPr lang="en-IN" sz="800" dirty="0"/>
                        <a:t> </a:t>
                      </a:r>
                      <a:r>
                        <a:rPr lang="en-IN" sz="800" dirty="0" err="1"/>
                        <a:t>WangQingyu</a:t>
                      </a:r>
                      <a:r>
                        <a:rPr lang="en-IN" sz="800" dirty="0"/>
                        <a:t> </a:t>
                      </a:r>
                      <a:r>
                        <a:rPr lang="en-IN" sz="800" dirty="0" err="1"/>
                        <a:t>MengHuimin</a:t>
                      </a:r>
                      <a:r>
                        <a:rPr lang="en-IN" sz="800" dirty="0"/>
                        <a:t> YuYang Li</a:t>
                      </a:r>
                    </a:p>
                    <a:p>
                      <a:pPr algn="ctr"/>
                      <a:r>
                        <a:rPr lang="en-IN" sz="800" dirty="0"/>
                        <a:t>[2025]</a:t>
                      </a:r>
                    </a:p>
                  </a:txBody>
                  <a:tcPr/>
                </a:tc>
                <a:tc>
                  <a:txBody>
                    <a:bodyPr/>
                    <a:lstStyle/>
                    <a:p>
                      <a:pPr algn="ctr"/>
                      <a:r>
                        <a:rPr lang="en-IN" sz="1000" dirty="0"/>
                        <a:t>https://pubs.acs.org/doi/abs/10.1021/acs.analchem.5c00023</a:t>
                      </a:r>
                    </a:p>
                  </a:txBody>
                  <a:tcPr/>
                </a:tc>
                <a:tc>
                  <a:txBody>
                    <a:bodyPr/>
                    <a:lstStyle/>
                    <a:p>
                      <a:pPr algn="ctr"/>
                      <a:r>
                        <a:rPr lang="en-US" sz="1000" dirty="0"/>
                        <a:t>Bayes, linear discriminant analysis, decision trees, k-nearest neighbors, random forests</a:t>
                      </a:r>
                      <a:endParaRPr lang="en-IN" sz="1000" dirty="0"/>
                    </a:p>
                  </a:txBody>
                  <a:tcPr/>
                </a:tc>
                <a:tc>
                  <a:txBody>
                    <a:bodyPr/>
                    <a:lstStyle/>
                    <a:p>
                      <a:pPr algn="ctr"/>
                      <a:r>
                        <a:rPr lang="en-IN" sz="1200" dirty="0"/>
                        <a:t>Feature Importance Analysis</a:t>
                      </a:r>
                    </a:p>
                  </a:txBody>
                  <a:tcPr/>
                </a:tc>
                <a:tc>
                  <a:txBody>
                    <a:bodyPr/>
                    <a:lstStyle/>
                    <a:p>
                      <a:pPr algn="ctr"/>
                      <a:r>
                        <a:rPr lang="en-US" sz="900" dirty="0"/>
                        <a:t>The design significantly enhances diagnostic precision and speed, enabling nonspecialists to accurately diagnose RA. Extensive experimental data validated the method’s 100% diagnostic accuracy.</a:t>
                      </a:r>
                      <a:endParaRPr lang="en-IN" sz="900" dirty="0"/>
                    </a:p>
                  </a:txBody>
                  <a:tcPr/>
                </a:tc>
                <a:tc>
                  <a:txBody>
                    <a:bodyPr/>
                    <a:lstStyle/>
                    <a:p>
                      <a:pPr algn="ctr"/>
                      <a:r>
                        <a:rPr lang="en-US" sz="1000" dirty="0"/>
                        <a:t>This approach provides a novel and effective tool for early RA screening and demonstrates potential applications in other autoimmune and dermatological diseases.</a:t>
                      </a:r>
                      <a:endParaRPr lang="en-IN" sz="1000" dirty="0"/>
                    </a:p>
                  </a:txBody>
                  <a:tcPr/>
                </a:tc>
                <a:extLst>
                  <a:ext uri="{0D108BD9-81ED-4DB2-BD59-A6C34878D82A}">
                    <a16:rowId xmlns:a16="http://schemas.microsoft.com/office/drawing/2014/main" val="109521386"/>
                  </a:ext>
                </a:extLst>
              </a:tr>
              <a:tr h="842944">
                <a:tc>
                  <a:txBody>
                    <a:bodyPr/>
                    <a:lstStyle/>
                    <a:p>
                      <a:pPr algn="ctr"/>
                      <a:r>
                        <a:rPr lang="en-IN" dirty="0"/>
                        <a:t>4.</a:t>
                      </a:r>
                    </a:p>
                  </a:txBody>
                  <a:tcPr/>
                </a:tc>
                <a:tc>
                  <a:txBody>
                    <a:bodyPr/>
                    <a:lstStyle/>
                    <a:p>
                      <a:pPr algn="ctr"/>
                      <a:r>
                        <a:rPr lang="en-IN" sz="1100" dirty="0"/>
                        <a:t>Jiao Qiu, </a:t>
                      </a:r>
                      <a:r>
                        <a:rPr lang="en-IN" sz="1100" dirty="0" err="1"/>
                        <a:t>Yalin</a:t>
                      </a:r>
                      <a:r>
                        <a:rPr lang="en-IN" sz="1100" dirty="0"/>
                        <a:t> Xu, </a:t>
                      </a:r>
                      <a:r>
                        <a:rPr lang="en-IN" sz="1100" dirty="0" err="1"/>
                        <a:t>Luyuan</a:t>
                      </a:r>
                      <a:r>
                        <a:rPr lang="en-IN" sz="1100" dirty="0"/>
                        <a:t> Tong, </a:t>
                      </a:r>
                      <a:r>
                        <a:rPr lang="en-IN" sz="1100" dirty="0" err="1"/>
                        <a:t>Xingchun</a:t>
                      </a:r>
                      <a:r>
                        <a:rPr lang="en-IN" sz="1100" dirty="0"/>
                        <a:t> Yang &amp; Xiao Wu</a:t>
                      </a:r>
                    </a:p>
                    <a:p>
                      <a:pPr algn="ctr"/>
                      <a:r>
                        <a:rPr lang="en-IN" sz="1100" dirty="0"/>
                        <a:t>[2025]</a:t>
                      </a:r>
                    </a:p>
                  </a:txBody>
                  <a:tcPr/>
                </a:tc>
                <a:tc>
                  <a:txBody>
                    <a:bodyPr/>
                    <a:lstStyle/>
                    <a:p>
                      <a:pPr algn="ctr"/>
                      <a:r>
                        <a:rPr lang="en-IN" sz="1000" dirty="0"/>
                        <a:t>https://www.nature.com/articles/s41598-025-05757-9</a:t>
                      </a:r>
                    </a:p>
                  </a:txBody>
                  <a:tcPr/>
                </a:tc>
                <a:tc>
                  <a:txBody>
                    <a:bodyPr/>
                    <a:lstStyle/>
                    <a:p>
                      <a:pPr algn="ctr"/>
                      <a:r>
                        <a:rPr lang="en-IN" sz="1200" dirty="0"/>
                        <a:t> Logistic Regression (LR) </a:t>
                      </a:r>
                    </a:p>
                  </a:txBody>
                  <a:tcPr/>
                </a:tc>
                <a:tc>
                  <a:txBody>
                    <a:bodyPr/>
                    <a:lstStyle/>
                    <a:p>
                      <a:pPr algn="ctr"/>
                      <a:r>
                        <a:rPr lang="da-DK" sz="1100" dirty="0"/>
                        <a:t>single-sample gene set enrichment analysis (ssGSEA) </a:t>
                      </a:r>
                      <a:endParaRPr lang="en-IN" sz="1100" dirty="0"/>
                    </a:p>
                  </a:txBody>
                  <a:tcPr/>
                </a:tc>
                <a:tc>
                  <a:txBody>
                    <a:bodyPr/>
                    <a:lstStyle/>
                    <a:p>
                      <a:pPr algn="ctr"/>
                      <a:r>
                        <a:rPr lang="en-US" sz="900" b="0" i="0" kern="1200" dirty="0">
                          <a:solidFill>
                            <a:schemeClr val="dk1"/>
                          </a:solidFill>
                          <a:effectLst/>
                          <a:latin typeface="+mn-lt"/>
                          <a:ea typeface="+mn-ea"/>
                          <a:cs typeface="+mn-cs"/>
                        </a:rPr>
                        <a:t>Through the LASSO analysis, three characteristic genes were obtained from the GSE55457 dataset with an Area Under the Curve (AUC) value of 0.985. </a:t>
                      </a:r>
                      <a:endParaRPr lang="en-IN" sz="900" dirty="0"/>
                    </a:p>
                  </a:txBody>
                  <a:tcPr/>
                </a:tc>
                <a:tc>
                  <a:txBody>
                    <a:bodyPr/>
                    <a:lstStyle/>
                    <a:p>
                      <a:pPr algn="ctr"/>
                      <a:r>
                        <a:rPr lang="en-US" sz="700" dirty="0"/>
                        <a:t>Studies have indicated that the primary cause of renal insufficiency in patients with rheumatoid arthritis (RA) is the nephrotoxicity associated with RA treatment, such as the use of nonsteroidal anti-inflammatory drugs (NSAIDs) and disease-modifying antirheumatic drugs (DMARDs). </a:t>
                      </a:r>
                      <a:endParaRPr lang="en-IN" sz="700" dirty="0"/>
                    </a:p>
                  </a:txBody>
                  <a:tcPr/>
                </a:tc>
                <a:extLst>
                  <a:ext uri="{0D108BD9-81ED-4DB2-BD59-A6C34878D82A}">
                    <a16:rowId xmlns:a16="http://schemas.microsoft.com/office/drawing/2014/main" val="195540881"/>
                  </a:ext>
                </a:extLst>
              </a:tr>
              <a:tr h="938115">
                <a:tc>
                  <a:txBody>
                    <a:bodyPr/>
                    <a:lstStyle/>
                    <a:p>
                      <a:pPr algn="ctr"/>
                      <a:r>
                        <a:rPr lang="en-IN" dirty="0"/>
                        <a:t>5.</a:t>
                      </a:r>
                    </a:p>
                  </a:txBody>
                  <a:tcPr/>
                </a:tc>
                <a:tc>
                  <a:txBody>
                    <a:bodyPr/>
                    <a:lstStyle/>
                    <a:p>
                      <a:pPr algn="ctr"/>
                      <a:r>
                        <a:rPr lang="fi-FI" sz="1100" dirty="0"/>
                        <a:t>Mikko S Venäläinen, Alexander Biehl, Milja Holstila, Laura Kuusalo, Laura L Elo</a:t>
                      </a:r>
                    </a:p>
                    <a:p>
                      <a:pPr algn="ctr"/>
                      <a:r>
                        <a:rPr lang="fi-FI" sz="1100" dirty="0"/>
                        <a:t>[2025]</a:t>
                      </a:r>
                      <a:endParaRPr lang="en-IN" sz="1100" dirty="0"/>
                    </a:p>
                  </a:txBody>
                  <a:tcPr/>
                </a:tc>
                <a:tc>
                  <a:txBody>
                    <a:bodyPr/>
                    <a:lstStyle/>
                    <a:p>
                      <a:pPr algn="ctr"/>
                      <a:r>
                        <a:rPr lang="en-IN" sz="1000" dirty="0"/>
                        <a:t>https://academic.oup.com/rheumatology/article/64/3/1068/7643527</a:t>
                      </a:r>
                    </a:p>
                  </a:txBody>
                  <a:tcPr/>
                </a:tc>
                <a:tc>
                  <a:txBody>
                    <a:bodyPr/>
                    <a:lstStyle/>
                    <a:p>
                      <a:pPr algn="ctr"/>
                      <a:r>
                        <a:rPr lang="en-US" sz="1200" dirty="0"/>
                        <a:t>automated RA scoring algorithm (</a:t>
                      </a:r>
                      <a:r>
                        <a:rPr lang="en-US" sz="1200" dirty="0" err="1"/>
                        <a:t>AuRA</a:t>
                      </a:r>
                      <a:r>
                        <a:rPr lang="en-US" sz="1200" dirty="0"/>
                        <a:t>)</a:t>
                      </a:r>
                      <a:endParaRPr lang="en-IN" sz="1200" dirty="0"/>
                    </a:p>
                  </a:txBody>
                  <a:tcPr/>
                </a:tc>
                <a:tc>
                  <a:txBody>
                    <a:bodyPr/>
                    <a:lstStyle/>
                    <a:p>
                      <a:pPr algn="ctr"/>
                      <a:r>
                        <a:rPr lang="en-US" sz="1200" dirty="0"/>
                        <a:t>Class Activation Mapping (CAM) / Grad-CAM</a:t>
                      </a:r>
                      <a:endParaRPr lang="en-IN" sz="1200" dirty="0"/>
                    </a:p>
                  </a:txBody>
                  <a:tcPr/>
                </a:tc>
                <a:tc>
                  <a:txBody>
                    <a:bodyPr/>
                    <a:lstStyle/>
                    <a:p>
                      <a:pPr algn="ctr"/>
                      <a:r>
                        <a:rPr lang="en-US" sz="900" dirty="0"/>
                        <a:t>In the external validation cohort, with a root mean square error (RMSE) of 23.6, </a:t>
                      </a:r>
                      <a:r>
                        <a:rPr lang="en-US" sz="900" dirty="0" err="1"/>
                        <a:t>AuRA</a:t>
                      </a:r>
                      <a:r>
                        <a:rPr lang="en-US" sz="900" dirty="0"/>
                        <a:t> outperformed both top-performing RA2-DREAM algorithms (RMSEs 35.0 and 35.6).</a:t>
                      </a:r>
                      <a:endParaRPr lang="en-IN" sz="900" dirty="0"/>
                    </a:p>
                  </a:txBody>
                  <a:tcPr/>
                </a:tc>
                <a:tc>
                  <a:txBody>
                    <a:bodyPr/>
                    <a:lstStyle/>
                    <a:p>
                      <a:pPr algn="ctr"/>
                      <a:r>
                        <a:rPr lang="en-US" sz="1000" dirty="0" err="1"/>
                        <a:t>AuRA</a:t>
                      </a:r>
                      <a:r>
                        <a:rPr lang="en-US" sz="1000" dirty="0"/>
                        <a:t> had the best external validation performance and demonstrated potential for detecting longitudinal changes in joint damage</a:t>
                      </a:r>
                      <a:endParaRPr lang="en-IN" sz="1000" dirty="0"/>
                    </a:p>
                  </a:txBody>
                  <a:tcPr/>
                </a:tc>
                <a:extLst>
                  <a:ext uri="{0D108BD9-81ED-4DB2-BD59-A6C34878D82A}">
                    <a16:rowId xmlns:a16="http://schemas.microsoft.com/office/drawing/2014/main" val="1070339964"/>
                  </a:ext>
                </a:extLst>
              </a:tr>
              <a:tr h="506723">
                <a:tc>
                  <a:txBody>
                    <a:bodyPr/>
                    <a:lstStyle/>
                    <a:p>
                      <a:pPr algn="ctr"/>
                      <a:r>
                        <a:rPr lang="en-IN" dirty="0"/>
                        <a:t>6.</a:t>
                      </a:r>
                    </a:p>
                  </a:txBody>
                  <a:tcPr/>
                </a:tc>
                <a:tc>
                  <a:txBody>
                    <a:bodyPr/>
                    <a:lstStyle/>
                    <a:p>
                      <a:r>
                        <a:rPr lang="en-IN" sz="900" b="1" i="0" kern="1200" dirty="0">
                          <a:solidFill>
                            <a:schemeClr val="dk1"/>
                          </a:solidFill>
                          <a:effectLst/>
                          <a:latin typeface="+mn-lt"/>
                          <a:ea typeface="+mn-ea"/>
                          <a:cs typeface="+mn-cs"/>
                        </a:rPr>
                        <a:t>Karolina </a:t>
                      </a:r>
                      <a:r>
                        <a:rPr lang="en-IN" sz="900" b="1" i="0" kern="1200" dirty="0" err="1">
                          <a:solidFill>
                            <a:schemeClr val="dk1"/>
                          </a:solidFill>
                          <a:effectLst/>
                          <a:latin typeface="+mn-lt"/>
                          <a:ea typeface="+mn-ea"/>
                          <a:cs typeface="+mn-cs"/>
                        </a:rPr>
                        <a:t>KrystynaKopeć,Gabrieleanselmo</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Uccheddu,Paweł</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Chodnicki,Antonio</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Noto,Cristina</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Piras,Martina</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Spada,Luigi</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Atzori,Vassilios</a:t>
                      </a:r>
                      <a:r>
                        <a:rPr lang="en-IN" sz="900" b="1" i="0" kern="1200" dirty="0">
                          <a:solidFill>
                            <a:schemeClr val="dk1"/>
                          </a:solidFill>
                          <a:effectLst/>
                          <a:latin typeface="+mn-lt"/>
                          <a:ea typeface="+mn-ea"/>
                          <a:cs typeface="+mn-cs"/>
                        </a:rPr>
                        <a:t> </a:t>
                      </a:r>
                      <a:r>
                        <a:rPr lang="en-IN" sz="900" b="1" i="0" kern="1200" dirty="0" err="1">
                          <a:solidFill>
                            <a:schemeClr val="dk1"/>
                          </a:solidFill>
                          <a:effectLst/>
                          <a:latin typeface="+mn-lt"/>
                          <a:ea typeface="+mn-ea"/>
                          <a:cs typeface="+mn-cs"/>
                        </a:rPr>
                        <a:t>Fanos</a:t>
                      </a:r>
                      <a:endParaRPr lang="en-IN" sz="900" b="1" i="0" kern="1200" dirty="0">
                        <a:solidFill>
                          <a:schemeClr val="dk1"/>
                        </a:solidFill>
                        <a:effectLst/>
                        <a:latin typeface="+mn-lt"/>
                        <a:ea typeface="+mn-ea"/>
                        <a:cs typeface="+mn-cs"/>
                      </a:endParaRPr>
                    </a:p>
                    <a:p>
                      <a:pPr algn="ctr"/>
                      <a:r>
                        <a:rPr lang="en-IN" sz="1100" dirty="0"/>
                        <a:t>[2025]</a:t>
                      </a:r>
                    </a:p>
                  </a:txBody>
                  <a:tcPr/>
                </a:tc>
                <a:tc>
                  <a:txBody>
                    <a:bodyPr/>
                    <a:lstStyle/>
                    <a:p>
                      <a:pPr algn="ctr"/>
                      <a:r>
                        <a:rPr lang="en-IN" sz="1000" dirty="0"/>
                        <a:t>https://www.mdpi.com/2218-1989/15/2/112</a:t>
                      </a:r>
                    </a:p>
                  </a:txBody>
                  <a:tcPr/>
                </a:tc>
                <a:tc>
                  <a:txBody>
                    <a:bodyPr/>
                    <a:lstStyle/>
                    <a:p>
                      <a:pPr algn="ctr"/>
                      <a:r>
                        <a:rPr lang="en-US" sz="1200" dirty="0"/>
                        <a:t>Decision forests and random forest classifiers</a:t>
                      </a:r>
                      <a:endParaRPr lang="en-IN" sz="1200" dirty="0"/>
                    </a:p>
                  </a:txBody>
                  <a:tcPr/>
                </a:tc>
                <a:tc>
                  <a:txBody>
                    <a:bodyPr/>
                    <a:lstStyle/>
                    <a:p>
                      <a:pPr algn="ctr"/>
                      <a:r>
                        <a:rPr lang="en-IN" sz="1200" dirty="0"/>
                        <a:t>Shapley additive explanations (SHAP</a:t>
                      </a:r>
                      <a:r>
                        <a:rPr lang="en-IN" dirty="0"/>
                        <a:t>)</a:t>
                      </a:r>
                    </a:p>
                  </a:txBody>
                  <a:tcPr/>
                </a:tc>
                <a:tc>
                  <a:txBody>
                    <a:bodyPr/>
                    <a:lstStyle/>
                    <a:p>
                      <a:pPr algn="ctr"/>
                      <a:r>
                        <a:rPr lang="en-US" sz="800" dirty="0"/>
                        <a:t>Decision forests and random forest classifiers, optimized using genetic algorithms (GAs), highlighted a selection of a few metabolites—primarily glutamine, pyruvate, and proline—with significant discriminative power</a:t>
                      </a:r>
                      <a:endParaRPr lang="en-IN" sz="800" dirty="0"/>
                    </a:p>
                  </a:txBody>
                  <a:tcPr/>
                </a:tc>
                <a:tc>
                  <a:txBody>
                    <a:bodyPr/>
                    <a:lstStyle/>
                    <a:p>
                      <a:pPr algn="ctr"/>
                      <a:r>
                        <a:rPr lang="en-US" sz="1050" b="0" i="0" kern="1200" dirty="0">
                          <a:solidFill>
                            <a:schemeClr val="dk1"/>
                          </a:solidFill>
                          <a:effectLst/>
                          <a:latin typeface="+mn-lt"/>
                          <a:ea typeface="+mn-ea"/>
                          <a:cs typeface="+mn-cs"/>
                        </a:rPr>
                        <a:t>This workflow could streamline diagnostic efficiency and enhance clinical decision-making in rheumatology.</a:t>
                      </a:r>
                      <a:endParaRPr lang="en-IN" sz="1050" dirty="0"/>
                    </a:p>
                  </a:txBody>
                  <a:tcPr/>
                </a:tc>
                <a:extLst>
                  <a:ext uri="{0D108BD9-81ED-4DB2-BD59-A6C34878D82A}">
                    <a16:rowId xmlns:a16="http://schemas.microsoft.com/office/drawing/2014/main" val="74550660"/>
                  </a:ext>
                </a:extLst>
              </a:tr>
              <a:tr h="326301">
                <a:tc>
                  <a:txBody>
                    <a:bodyPr/>
                    <a:lstStyle/>
                    <a:p>
                      <a:pPr algn="ctr"/>
                      <a:r>
                        <a:rPr lang="en-IN" dirty="0"/>
                        <a:t>7.</a:t>
                      </a:r>
                    </a:p>
                  </a:txBody>
                  <a:tcPr/>
                </a:tc>
                <a:tc>
                  <a:txBody>
                    <a:bodyPr/>
                    <a:lstStyle/>
                    <a:p>
                      <a:pPr algn="ctr"/>
                      <a:r>
                        <a:rPr lang="en-IN" sz="900" dirty="0"/>
                        <a:t>Zihan Wang, Tianyi Lan, Yi Jiao, Xing Wang, Hongwei Yu, </a:t>
                      </a:r>
                      <a:r>
                        <a:rPr lang="en-IN" sz="900" dirty="0" err="1"/>
                        <a:t>Qishun</a:t>
                      </a:r>
                      <a:r>
                        <a:rPr lang="en-IN" sz="900" dirty="0"/>
                        <a:t> Geng, Jiahe Xu, Cheng Xiao, Qingwen Tao</a:t>
                      </a:r>
                    </a:p>
                    <a:p>
                      <a:pPr algn="ctr"/>
                      <a:r>
                        <a:rPr lang="en-IN" sz="900" dirty="0"/>
                        <a:t>[2025]</a:t>
                      </a:r>
                    </a:p>
                  </a:txBody>
                  <a:tcPr/>
                </a:tc>
                <a:tc>
                  <a:txBody>
                    <a:bodyPr/>
                    <a:lstStyle/>
                    <a:p>
                      <a:pPr algn="ctr"/>
                      <a:r>
                        <a:rPr lang="en-IN" sz="800" dirty="0"/>
                        <a:t>https://link.springer.com/article/10.1186/s13075-025-03576-x</a:t>
                      </a:r>
                    </a:p>
                  </a:txBody>
                  <a:tcPr/>
                </a:tc>
                <a:tc>
                  <a:txBody>
                    <a:bodyPr/>
                    <a:lstStyle/>
                    <a:p>
                      <a:pPr algn="ctr"/>
                      <a:r>
                        <a:rPr lang="en-IN" sz="1200" dirty="0"/>
                        <a:t>several machine learning algorithms</a:t>
                      </a:r>
                    </a:p>
                  </a:txBody>
                  <a:tcPr/>
                </a:tc>
                <a:tc>
                  <a:txBody>
                    <a:bodyPr/>
                    <a:lstStyle/>
                    <a:p>
                      <a:pPr algn="ctr"/>
                      <a:r>
                        <a:rPr lang="en-US" dirty="0"/>
                        <a:t>v</a:t>
                      </a:r>
                      <a:r>
                        <a:rPr lang="en-US" sz="1000" dirty="0"/>
                        <a:t>an der Heijde-modified total Sharp score (</a:t>
                      </a:r>
                      <a:r>
                        <a:rPr lang="en-US" sz="1000" dirty="0" err="1"/>
                        <a:t>mTSS</a:t>
                      </a:r>
                      <a:r>
                        <a:rPr lang="en-US" sz="1000" dirty="0"/>
                        <a:t>)</a:t>
                      </a:r>
                      <a:endParaRPr lang="en-IN" sz="1000" dirty="0"/>
                    </a:p>
                  </a:txBody>
                  <a:tcPr/>
                </a:tc>
                <a:tc>
                  <a:txBody>
                    <a:bodyPr/>
                    <a:lstStyle/>
                    <a:p>
                      <a:pPr algn="ctr"/>
                      <a:r>
                        <a:rPr lang="en-US" sz="800" dirty="0"/>
                        <a:t>The median increase in </a:t>
                      </a:r>
                      <a:r>
                        <a:rPr lang="en-US" sz="800" dirty="0" err="1"/>
                        <a:t>mTSS</a:t>
                      </a:r>
                      <a:r>
                        <a:rPr lang="en-US" sz="800" dirty="0"/>
                        <a:t> was 3.50. Of the 774 detected metabolites, 77 differed between patients with different outcomes. </a:t>
                      </a:r>
                      <a:endParaRPr lang="en-IN" sz="800" dirty="0"/>
                    </a:p>
                  </a:txBody>
                  <a:tcPr/>
                </a:tc>
                <a:tc>
                  <a:txBody>
                    <a:bodyPr/>
                    <a:lstStyle/>
                    <a:p>
                      <a:pPr algn="ctr"/>
                      <a:r>
                        <a:rPr lang="en-US" sz="800" b="0" i="0" kern="1200" dirty="0">
                          <a:solidFill>
                            <a:schemeClr val="dk1"/>
                          </a:solidFill>
                          <a:effectLst/>
                          <a:latin typeface="+mn-lt"/>
                          <a:ea typeface="+mn-ea"/>
                          <a:cs typeface="+mn-cs"/>
                        </a:rPr>
                        <a:t>The </a:t>
                      </a:r>
                      <a:r>
                        <a:rPr lang="en-US" sz="800" b="0" i="0" kern="1200" dirty="0" err="1">
                          <a:solidFill>
                            <a:schemeClr val="dk1"/>
                          </a:solidFill>
                          <a:effectLst/>
                          <a:latin typeface="+mn-lt"/>
                          <a:ea typeface="+mn-ea"/>
                          <a:cs typeface="+mn-cs"/>
                        </a:rPr>
                        <a:t>CjBM</a:t>
                      </a:r>
                      <a:r>
                        <a:rPr lang="en-US" sz="800" b="0" i="0" kern="1200" dirty="0">
                          <a:solidFill>
                            <a:schemeClr val="dk1"/>
                          </a:solidFill>
                          <a:effectLst/>
                          <a:latin typeface="+mn-lt"/>
                          <a:ea typeface="+mn-ea"/>
                          <a:cs typeface="+mn-cs"/>
                        </a:rPr>
                        <a:t> was developed for early prediction of bone destruction in patients with RA, and the evaluation of BERS emphasizes the significance of metabolite features.</a:t>
                      </a:r>
                      <a:endParaRPr lang="en-IN" sz="800" dirty="0"/>
                    </a:p>
                  </a:txBody>
                  <a:tcPr/>
                </a:tc>
                <a:extLst>
                  <a:ext uri="{0D108BD9-81ED-4DB2-BD59-A6C34878D82A}">
                    <a16:rowId xmlns:a16="http://schemas.microsoft.com/office/drawing/2014/main" val="1017829575"/>
                  </a:ext>
                </a:extLst>
              </a:tr>
              <a:tr h="326301">
                <a:tc>
                  <a:txBody>
                    <a:bodyPr/>
                    <a:lstStyle/>
                    <a:p>
                      <a:pPr algn="ctr"/>
                      <a:r>
                        <a:rPr lang="en-IN" dirty="0"/>
                        <a:t>8.</a:t>
                      </a:r>
                    </a:p>
                  </a:txBody>
                  <a:tcPr/>
                </a:tc>
                <a:tc>
                  <a:txBody>
                    <a:bodyPr/>
                    <a:lstStyle/>
                    <a:p>
                      <a:r>
                        <a:rPr lang="en-IN" sz="1100" b="1" i="0" kern="1200" dirty="0">
                          <a:solidFill>
                            <a:schemeClr val="dk1"/>
                          </a:solidFill>
                          <a:effectLst/>
                          <a:latin typeface="+mn-lt"/>
                          <a:ea typeface="+mn-ea"/>
                          <a:cs typeface="+mn-cs"/>
                        </a:rPr>
                        <a:t>Mahyar </a:t>
                      </a:r>
                      <a:r>
                        <a:rPr lang="en-IN" sz="1100" b="1" i="0" kern="1200" dirty="0" err="1">
                          <a:solidFill>
                            <a:schemeClr val="dk1"/>
                          </a:solidFill>
                          <a:effectLst/>
                          <a:latin typeface="+mn-lt"/>
                          <a:ea typeface="+mn-ea"/>
                          <a:cs typeface="+mn-cs"/>
                        </a:rPr>
                        <a:t>Daskareh</a:t>
                      </a:r>
                      <a:r>
                        <a:rPr lang="en-IN" sz="1100" b="1" i="0" kern="1200" dirty="0">
                          <a:solidFill>
                            <a:schemeClr val="dk1"/>
                          </a:solidFill>
                          <a:effectLst/>
                          <a:latin typeface="+mn-lt"/>
                          <a:ea typeface="+mn-ea"/>
                          <a:cs typeface="+mn-cs"/>
                        </a:rPr>
                        <a:t> and associate researchers</a:t>
                      </a:r>
                      <a:r>
                        <a:rPr lang="en-IN" sz="1100" b="0" i="0" kern="1200" baseline="30000" dirty="0">
                          <a:solidFill>
                            <a:schemeClr val="dk1"/>
                          </a:solidFill>
                          <a:effectLst/>
                          <a:latin typeface="+mn-lt"/>
                          <a:ea typeface="+mn-ea"/>
                          <a:cs typeface="+mn-cs"/>
                        </a:rPr>
                        <a:t> </a:t>
                      </a:r>
                    </a:p>
                    <a:p>
                      <a:pPr algn="ctr"/>
                      <a:r>
                        <a:rPr lang="en-IN" sz="1100" b="0" i="0" kern="1200" baseline="30000" dirty="0">
                          <a:solidFill>
                            <a:schemeClr val="dk1"/>
                          </a:solidFill>
                          <a:effectLst/>
                          <a:latin typeface="+mn-lt"/>
                          <a:ea typeface="+mn-ea"/>
                          <a:cs typeface="+mn-cs"/>
                        </a:rPr>
                        <a:t>[2024]</a:t>
                      </a:r>
                      <a:endParaRPr lang="en-IN" sz="1100" dirty="0"/>
                    </a:p>
                  </a:txBody>
                  <a:tcPr/>
                </a:tc>
                <a:tc>
                  <a:txBody>
                    <a:bodyPr/>
                    <a:lstStyle/>
                    <a:p>
                      <a:pPr algn="ctr"/>
                      <a:r>
                        <a:rPr lang="en-IN" sz="1000" dirty="0"/>
                        <a:t>https://www.mdpi.com/2075-4418/14/11/1181</a:t>
                      </a:r>
                    </a:p>
                  </a:txBody>
                  <a:tcPr/>
                </a:tc>
                <a:tc>
                  <a:txBody>
                    <a:bodyPr/>
                    <a:lstStyle/>
                    <a:p>
                      <a:pPr algn="ctr"/>
                      <a:r>
                        <a:rPr lang="en-IN" sz="1200" dirty="0"/>
                        <a:t>random forest (RF)</a:t>
                      </a:r>
                    </a:p>
                  </a:txBody>
                  <a:tcPr/>
                </a:tc>
                <a:tc>
                  <a:txBody>
                    <a:bodyPr/>
                    <a:lstStyle/>
                    <a:p>
                      <a:pPr algn="just"/>
                      <a:r>
                        <a:rPr lang="en-US" sz="800" dirty="0"/>
                        <a:t> k-fold cross-validation (k = 5) and a comprehensive set of metrics, including sensitivity, specificity, precision, the F1-score, and the Matthews correlation coefficient (MCC)</a:t>
                      </a:r>
                      <a:endParaRPr lang="en-IN" sz="800" dirty="0"/>
                    </a:p>
                  </a:txBody>
                  <a:tcPr/>
                </a:tc>
                <a:tc>
                  <a:txBody>
                    <a:bodyPr/>
                    <a:lstStyle/>
                    <a:p>
                      <a:pPr algn="ctr"/>
                      <a:r>
                        <a:rPr lang="en-US" sz="900" b="0" i="0" kern="1200" dirty="0">
                          <a:solidFill>
                            <a:schemeClr val="dk1"/>
                          </a:solidFill>
                          <a:effectLst/>
                          <a:latin typeface="+mn-lt"/>
                          <a:ea typeface="+mn-ea"/>
                          <a:cs typeface="+mn-cs"/>
                        </a:rPr>
                        <a:t>The patients who developed RA (RA group) were significantly older on average (47.10 years, 95% CI: 45.32–48.88) compared to those who did not develop RA (non-RA group) (43.90 years, 95% CI: 42.49–45.31; </a:t>
                      </a:r>
                      <a:r>
                        <a:rPr lang="en-US" sz="900" b="0" i="1" kern="1200" dirty="0">
                          <a:solidFill>
                            <a:schemeClr val="dk1"/>
                          </a:solidFill>
                          <a:effectLst/>
                          <a:latin typeface="+mn-lt"/>
                          <a:ea typeface="+mn-ea"/>
                          <a:cs typeface="+mn-cs"/>
                        </a:rPr>
                        <a:t>p</a:t>
                      </a:r>
                      <a:r>
                        <a:rPr lang="en-US" sz="900" b="0" i="0" kern="1200" dirty="0">
                          <a:solidFill>
                            <a:schemeClr val="dk1"/>
                          </a:solidFill>
                          <a:effectLst/>
                          <a:latin typeface="+mn-lt"/>
                          <a:ea typeface="+mn-ea"/>
                          <a:cs typeface="+mn-cs"/>
                        </a:rPr>
                        <a:t> = 0.019). </a:t>
                      </a:r>
                      <a:endParaRPr lang="en-IN" sz="900" dirty="0"/>
                    </a:p>
                  </a:txBody>
                  <a:tcPr/>
                </a:tc>
                <a:tc>
                  <a:txBody>
                    <a:bodyPr/>
                    <a:lstStyle/>
                    <a:p>
                      <a:pPr algn="just"/>
                      <a:r>
                        <a:rPr lang="en-US" sz="800" b="0" i="0" kern="1200" dirty="0">
                          <a:solidFill>
                            <a:schemeClr val="dk1"/>
                          </a:solidFill>
                          <a:effectLst/>
                          <a:latin typeface="+mn-lt"/>
                          <a:ea typeface="+mn-ea"/>
                          <a:cs typeface="+mn-cs"/>
                        </a:rPr>
                        <a:t>This prospective cohort study exhibits the significance of targeted hand ultrasonography in the identification of individuals with a strong likelihood of advancing to rheumatoid arthritis.</a:t>
                      </a:r>
                      <a:endParaRPr lang="en-IN" sz="800" dirty="0"/>
                    </a:p>
                  </a:txBody>
                  <a:tcPr/>
                </a:tc>
                <a:extLst>
                  <a:ext uri="{0D108BD9-81ED-4DB2-BD59-A6C34878D82A}">
                    <a16:rowId xmlns:a16="http://schemas.microsoft.com/office/drawing/2014/main" val="2122032128"/>
                  </a:ext>
                </a:extLst>
              </a:tr>
              <a:tr h="326301">
                <a:tc>
                  <a:txBody>
                    <a:bodyPr/>
                    <a:lstStyle/>
                    <a:p>
                      <a:pPr algn="ctr"/>
                      <a:r>
                        <a:rPr lang="en-IN" dirty="0"/>
                        <a:t>9.</a:t>
                      </a:r>
                    </a:p>
                  </a:txBody>
                  <a:tcPr/>
                </a:tc>
                <a:tc>
                  <a:txBody>
                    <a:bodyPr/>
                    <a:lstStyle/>
                    <a:p>
                      <a:pPr algn="ctr"/>
                      <a:r>
                        <a:rPr lang="en-IN" sz="1200" b="0" i="0" kern="1200" dirty="0">
                          <a:solidFill>
                            <a:schemeClr val="dk1"/>
                          </a:solidFill>
                          <a:effectLst/>
                          <a:latin typeface="+mn-lt"/>
                          <a:ea typeface="+mn-ea"/>
                          <a:cs typeface="+mn-cs"/>
                        </a:rPr>
                        <a:t>Wei Shuai and associate researchers</a:t>
                      </a:r>
                    </a:p>
                    <a:p>
                      <a:pPr algn="ctr"/>
                      <a:r>
                        <a:rPr lang="en-IN" sz="1200" b="0" i="0" kern="1200" dirty="0">
                          <a:solidFill>
                            <a:schemeClr val="dk1"/>
                          </a:solidFill>
                          <a:effectLst/>
                          <a:latin typeface="+mn-lt"/>
                          <a:ea typeface="+mn-ea"/>
                          <a:cs typeface="+mn-cs"/>
                        </a:rPr>
                        <a:t>[2024]</a:t>
                      </a:r>
                      <a:endParaRPr lang="en-IN" sz="1200" dirty="0"/>
                    </a:p>
                  </a:txBody>
                  <a:tcPr/>
                </a:tc>
                <a:tc>
                  <a:txBody>
                    <a:bodyPr/>
                    <a:lstStyle/>
                    <a:p>
                      <a:pPr algn="ctr"/>
                      <a:r>
                        <a:rPr lang="en-IN" sz="1000" dirty="0"/>
                        <a:t>https://www.sciencedirect.com/science/article/pii/S1572100023006129</a:t>
                      </a:r>
                    </a:p>
                  </a:txBody>
                  <a:tcPr/>
                </a:tc>
                <a:tc>
                  <a:txBody>
                    <a:bodyPr/>
                    <a:lstStyle/>
                    <a:p>
                      <a:pPr algn="ctr"/>
                      <a:r>
                        <a:rPr lang="en-IN" sz="1200" dirty="0"/>
                        <a:t>multi-scale convolutional neural network (MSCNN) </a:t>
                      </a:r>
                    </a:p>
                  </a:txBody>
                  <a:tcPr/>
                </a:tc>
                <a:tc>
                  <a:txBody>
                    <a:bodyPr/>
                    <a:lstStyle/>
                    <a:p>
                      <a:pPr algn="ctr"/>
                      <a:r>
                        <a:rPr lang="en-IN" sz="1100" dirty="0"/>
                        <a:t>Ensemble / Stacking Diagnostics</a:t>
                      </a:r>
                    </a:p>
                  </a:txBody>
                  <a:tcPr/>
                </a:tc>
                <a:tc>
                  <a:txBody>
                    <a:bodyPr/>
                    <a:lstStyle/>
                    <a:p>
                      <a:pPr algn="ctr"/>
                      <a:r>
                        <a:rPr lang="en-US" sz="900" dirty="0"/>
                        <a:t>Spectral analysis shows that the curves and waveforms of the three spectral graphs are similar. The main differences are distributed in the spectral regions of 3300–3250 cm−1, 3000–2800 cm−1, 1750–1500 cm−1, and 1500–1300 cm−1</a:t>
                      </a:r>
                      <a:endParaRPr lang="en-IN" sz="900" dirty="0"/>
                    </a:p>
                  </a:txBody>
                  <a:tcPr/>
                </a:tc>
                <a:tc>
                  <a:txBody>
                    <a:bodyPr/>
                    <a:lstStyle/>
                    <a:p>
                      <a:pPr algn="ctr"/>
                      <a:r>
                        <a:rPr lang="en-US" sz="1000" b="0" i="0" kern="1200" dirty="0">
                          <a:solidFill>
                            <a:schemeClr val="dk1"/>
                          </a:solidFill>
                          <a:effectLst/>
                          <a:latin typeface="+mn-lt"/>
                          <a:ea typeface="+mn-ea"/>
                          <a:cs typeface="+mn-cs"/>
                        </a:rPr>
                        <a:t>The study demonstrated the superiority of MSCNN in distinguishing ankylosing spondylitis from rheumatoid arthritis and healthy controls.</a:t>
                      </a:r>
                      <a:endParaRPr lang="en-IN" sz="1000" dirty="0"/>
                    </a:p>
                  </a:txBody>
                  <a:tcPr/>
                </a:tc>
                <a:extLst>
                  <a:ext uri="{0D108BD9-81ED-4DB2-BD59-A6C34878D82A}">
                    <a16:rowId xmlns:a16="http://schemas.microsoft.com/office/drawing/2014/main" val="2460794466"/>
                  </a:ext>
                </a:extLst>
              </a:tr>
              <a:tr h="326301">
                <a:tc>
                  <a:txBody>
                    <a:bodyPr/>
                    <a:lstStyle/>
                    <a:p>
                      <a:pPr algn="ctr"/>
                      <a:r>
                        <a:rPr lang="en-IN" dirty="0"/>
                        <a:t>10.</a:t>
                      </a:r>
                    </a:p>
                  </a:txBody>
                  <a:tcPr/>
                </a:tc>
                <a:tc>
                  <a:txBody>
                    <a:bodyPr/>
                    <a:lstStyle/>
                    <a:p>
                      <a:pPr algn="ctr"/>
                      <a:r>
                        <a:rPr lang="en-IN" sz="1050" b="0" i="0" kern="1200" dirty="0">
                          <a:solidFill>
                            <a:schemeClr val="dk1"/>
                          </a:solidFill>
                          <a:effectLst/>
                          <a:latin typeface="+mn-lt"/>
                          <a:ea typeface="+mn-ea"/>
                          <a:cs typeface="+mn-cs"/>
                        </a:rPr>
                        <a:t>Tahereh Hassanzadeh and associate researchers</a:t>
                      </a:r>
                    </a:p>
                    <a:p>
                      <a:pPr algn="ctr"/>
                      <a:r>
                        <a:rPr lang="en-IN" sz="1050" b="0" i="0" kern="1200" dirty="0">
                          <a:solidFill>
                            <a:schemeClr val="dk1"/>
                          </a:solidFill>
                          <a:effectLst/>
                          <a:latin typeface="+mn-lt"/>
                          <a:ea typeface="+mn-ea"/>
                          <a:cs typeface="+mn-cs"/>
                        </a:rPr>
                        <a:t>[2024]</a:t>
                      </a:r>
                      <a:endParaRPr lang="en-IN" sz="1050" dirty="0"/>
                    </a:p>
                  </a:txBody>
                  <a:tcPr/>
                </a:tc>
                <a:tc>
                  <a:txBody>
                    <a:bodyPr/>
                    <a:lstStyle/>
                    <a:p>
                      <a:pPr algn="ctr"/>
                      <a:r>
                        <a:rPr lang="en-IN" sz="900" dirty="0"/>
                        <a:t>https://www.sciencedirect.com/science/article/abs/pii/S1746809423010455</a:t>
                      </a:r>
                    </a:p>
                  </a:txBody>
                  <a:tcPr/>
                </a:tc>
                <a:tc>
                  <a:txBody>
                    <a:bodyPr/>
                    <a:lstStyle/>
                    <a:p>
                      <a:pPr algn="ctr"/>
                      <a:r>
                        <a:rPr lang="en-IN" sz="1200" dirty="0"/>
                        <a:t>U-Net-based model </a:t>
                      </a:r>
                    </a:p>
                  </a:txBody>
                  <a:tcPr/>
                </a:tc>
                <a:tc>
                  <a:txBody>
                    <a:bodyPr/>
                    <a:lstStyle/>
                    <a:p>
                      <a:pPr algn="ctr"/>
                      <a:r>
                        <a:rPr lang="en-IN" sz="1400" dirty="0"/>
                        <a:t>Change detection</a:t>
                      </a:r>
                    </a:p>
                  </a:txBody>
                  <a:tcPr/>
                </a:tc>
                <a:tc>
                  <a:txBody>
                    <a:bodyPr/>
                    <a:lstStyle/>
                    <a:p>
                      <a:pPr algn="ctr"/>
                      <a:r>
                        <a:rPr lang="en-US" sz="800" dirty="0"/>
                        <a:t>a deep learning-based model is proposed to detect inflammatory changes in Rheumatoid Arthritis from MRI scans.</a:t>
                      </a:r>
                      <a:endParaRPr lang="en-IN" sz="800" dirty="0"/>
                    </a:p>
                  </a:txBody>
                  <a:tcPr/>
                </a:tc>
                <a:tc>
                  <a:txBody>
                    <a:bodyPr/>
                    <a:lstStyle/>
                    <a:p>
                      <a:pPr algn="ctr"/>
                      <a:r>
                        <a:rPr lang="en-US" sz="800" b="0" i="0" kern="1200" dirty="0">
                          <a:solidFill>
                            <a:schemeClr val="dk1"/>
                          </a:solidFill>
                          <a:effectLst/>
                          <a:latin typeface="+mn-lt"/>
                          <a:ea typeface="+mn-ea"/>
                          <a:cs typeface="+mn-cs"/>
                        </a:rPr>
                        <a:t>The proposed model is a combination of a convolutional neural network for image reconstruction and classical image processing techniques.</a:t>
                      </a:r>
                      <a:endParaRPr lang="en-IN" sz="800" dirty="0"/>
                    </a:p>
                  </a:txBody>
                  <a:tcPr/>
                </a:tc>
                <a:extLst>
                  <a:ext uri="{0D108BD9-81ED-4DB2-BD59-A6C34878D82A}">
                    <a16:rowId xmlns:a16="http://schemas.microsoft.com/office/drawing/2014/main" val="1180064698"/>
                  </a:ext>
                </a:extLst>
              </a:tr>
              <a:tr h="326301">
                <a:tc>
                  <a:txBody>
                    <a:bodyPr/>
                    <a:lstStyle/>
                    <a:p>
                      <a:pPr algn="ctr"/>
                      <a:r>
                        <a:rPr lang="en-IN" dirty="0"/>
                        <a:t>11.</a:t>
                      </a:r>
                    </a:p>
                  </a:txBody>
                  <a:tcPr/>
                </a:tc>
                <a:tc>
                  <a:txBody>
                    <a:bodyPr/>
                    <a:lstStyle/>
                    <a:p>
                      <a:pPr algn="ctr"/>
                      <a:r>
                        <a:rPr lang="en-IN" sz="900" b="0" i="0" u="none" strike="noStrike" kern="1200" dirty="0">
                          <a:solidFill>
                            <a:schemeClr val="dk1"/>
                          </a:solidFill>
                          <a:effectLst/>
                          <a:latin typeface="+mn-lt"/>
                          <a:ea typeface="+mn-ea"/>
                          <a:cs typeface="+mn-cs"/>
                        </a:rPr>
                        <a:t>Grzegorz Dudek and associate researchers</a:t>
                      </a:r>
                    </a:p>
                    <a:p>
                      <a:pPr algn="ctr"/>
                      <a:r>
                        <a:rPr lang="en-IN" sz="900" b="0" i="0" u="none" strike="noStrike" kern="1200" dirty="0">
                          <a:solidFill>
                            <a:schemeClr val="dk1"/>
                          </a:solidFill>
                          <a:effectLst/>
                          <a:latin typeface="+mn-lt"/>
                          <a:ea typeface="+mn-ea"/>
                          <a:cs typeface="+mn-cs"/>
                        </a:rPr>
                        <a:t>[2024]</a:t>
                      </a:r>
                      <a:endParaRPr lang="en-IN" sz="900" dirty="0"/>
                    </a:p>
                  </a:txBody>
                  <a:tcPr/>
                </a:tc>
                <a:tc>
                  <a:txBody>
                    <a:bodyPr/>
                    <a:lstStyle/>
                    <a:p>
                      <a:pPr algn="ctr"/>
                      <a:r>
                        <a:rPr lang="en-IN" sz="1000" dirty="0"/>
                        <a:t>https://journals.plos.org/plosone/article?id=10.1371/journal.pone.0300717</a:t>
                      </a:r>
                    </a:p>
                  </a:txBody>
                  <a:tcPr/>
                </a:tc>
                <a:tc>
                  <a:txBody>
                    <a:bodyPr/>
                    <a:lstStyle/>
                    <a:p>
                      <a:pPr algn="ctr"/>
                      <a:r>
                        <a:rPr lang="en-IN" sz="900" dirty="0"/>
                        <a:t>Logistic regression (LR), k-nearest </a:t>
                      </a:r>
                      <a:r>
                        <a:rPr lang="en-IN" sz="900" dirty="0" err="1"/>
                        <a:t>neighbors</a:t>
                      </a:r>
                      <a:r>
                        <a:rPr lang="en-IN" sz="900" dirty="0"/>
                        <a:t> (</a:t>
                      </a:r>
                      <a:r>
                        <a:rPr lang="en-IN" sz="900" dirty="0" err="1"/>
                        <a:t>kNN</a:t>
                      </a:r>
                      <a:r>
                        <a:rPr lang="en-IN" sz="900" dirty="0"/>
                        <a:t>), naïve Bayes (NB), decision tree (DT), boosted trees (BT), multilayer perceptron (MLP), and support vector machine (SVM). </a:t>
                      </a:r>
                    </a:p>
                  </a:txBody>
                  <a:tcPr/>
                </a:tc>
                <a:tc>
                  <a:txBody>
                    <a:bodyPr/>
                    <a:lstStyle/>
                    <a:p>
                      <a:pPr algn="ctr"/>
                      <a:r>
                        <a:rPr lang="en-US" sz="1100" b="0" i="0" kern="1200" dirty="0">
                          <a:solidFill>
                            <a:schemeClr val="dk1"/>
                          </a:solidFill>
                          <a:effectLst/>
                          <a:latin typeface="+mn-lt"/>
                          <a:ea typeface="+mn-ea"/>
                          <a:cs typeface="+mn-cs"/>
                        </a:rPr>
                        <a:t>RMSE </a:t>
                      </a:r>
                      <a:endParaRPr lang="en-IN" sz="1100" dirty="0"/>
                    </a:p>
                  </a:txBody>
                  <a:tcPr/>
                </a:tc>
                <a:tc>
                  <a:txBody>
                    <a:bodyPr/>
                    <a:lstStyle/>
                    <a:p>
                      <a:pPr algn="ctr"/>
                      <a:r>
                        <a:rPr lang="en-US" sz="900" dirty="0"/>
                        <a:t> these models are particularly efficient in their ability to accurately classify data while also requiring relatively little time to train.</a:t>
                      </a:r>
                      <a:endParaRPr lang="en-IN" sz="900" dirty="0"/>
                    </a:p>
                  </a:txBody>
                  <a:tcPr/>
                </a:tc>
                <a:tc>
                  <a:txBody>
                    <a:bodyPr/>
                    <a:lstStyle/>
                    <a:p>
                      <a:pPr algn="ctr"/>
                      <a:r>
                        <a:rPr lang="en-US" sz="900" b="0" i="0" kern="1200" dirty="0">
                          <a:solidFill>
                            <a:schemeClr val="dk1"/>
                          </a:solidFill>
                          <a:effectLst/>
                          <a:latin typeface="+mn-lt"/>
                          <a:ea typeface="+mn-ea"/>
                          <a:cs typeface="+mn-cs"/>
                        </a:rPr>
                        <a:t>ML algorithms can effectively handle complex genomic data and identify predictive patterns for RA</a:t>
                      </a:r>
                      <a:endParaRPr lang="en-IN" sz="900" dirty="0"/>
                    </a:p>
                  </a:txBody>
                  <a:tcPr/>
                </a:tc>
                <a:extLst>
                  <a:ext uri="{0D108BD9-81ED-4DB2-BD59-A6C34878D82A}">
                    <a16:rowId xmlns:a16="http://schemas.microsoft.com/office/drawing/2014/main" val="1065905199"/>
                  </a:ext>
                </a:extLst>
              </a:tr>
              <a:tr h="541627">
                <a:tc>
                  <a:txBody>
                    <a:bodyPr/>
                    <a:lstStyle/>
                    <a:p>
                      <a:pPr algn="ctr"/>
                      <a:r>
                        <a:rPr lang="en-IN" dirty="0"/>
                        <a:t>12.</a:t>
                      </a:r>
                    </a:p>
                  </a:txBody>
                  <a:tcPr/>
                </a:tc>
                <a:tc>
                  <a:txBody>
                    <a:bodyPr/>
                    <a:lstStyle/>
                    <a:p>
                      <a:pPr algn="ctr"/>
                      <a:r>
                        <a:rPr lang="en-IN" sz="1100" dirty="0"/>
                        <a:t>R K Ahalya, </a:t>
                      </a:r>
                      <a:r>
                        <a:rPr lang="en-IN" sz="1100" dirty="0" err="1"/>
                        <a:t>Snekhalatha</a:t>
                      </a:r>
                      <a:r>
                        <a:rPr lang="en-IN" sz="1100" dirty="0"/>
                        <a:t> Umapathy  and Alex Noel Joseph Raj</a:t>
                      </a:r>
                    </a:p>
                    <a:p>
                      <a:pPr algn="ctr"/>
                      <a:r>
                        <a:rPr lang="en-IN" sz="1100" dirty="0"/>
                        <a:t>[2022]</a:t>
                      </a:r>
                    </a:p>
                  </a:txBody>
                  <a:tcPr/>
                </a:tc>
                <a:tc>
                  <a:txBody>
                    <a:bodyPr/>
                    <a:lstStyle/>
                    <a:p>
                      <a:pPr algn="ctr"/>
                      <a:r>
                        <a:rPr lang="en-IN" sz="1000" dirty="0"/>
                        <a:t>https://journals.sagepub.com/doi/abs/10.1177/09544119221109735</a:t>
                      </a:r>
                    </a:p>
                  </a:txBody>
                  <a:tcPr/>
                </a:tc>
                <a:tc>
                  <a:txBody>
                    <a:bodyPr/>
                    <a:lstStyle/>
                    <a:p>
                      <a:pPr algn="ctr"/>
                      <a:r>
                        <a:rPr lang="en-IN" sz="900" b="0" i="0" kern="1200" dirty="0">
                          <a:solidFill>
                            <a:schemeClr val="dk1"/>
                          </a:solidFill>
                          <a:effectLst/>
                          <a:latin typeface="+mn-lt"/>
                          <a:ea typeface="+mn-ea"/>
                          <a:cs typeface="+mn-cs"/>
                        </a:rPr>
                        <a:t>CNN-based computer-aided diagnostic tool</a:t>
                      </a:r>
                      <a:endParaRPr lang="en-IN" sz="900" dirty="0"/>
                    </a:p>
                  </a:txBody>
                  <a:tcPr/>
                </a:tc>
                <a:tc>
                  <a:txBody>
                    <a:bodyPr/>
                    <a:lstStyle/>
                    <a:p>
                      <a:pPr algn="ctr"/>
                      <a:r>
                        <a:rPr lang="en-US" sz="900" dirty="0"/>
                        <a:t>Class Activation Mapping (CAM) / Grad-CAM</a:t>
                      </a:r>
                      <a:endParaRPr lang="en-IN" sz="900" dirty="0"/>
                    </a:p>
                  </a:txBody>
                  <a:tcPr/>
                </a:tc>
                <a:tc>
                  <a:txBody>
                    <a:bodyPr/>
                    <a:lstStyle/>
                    <a:p>
                      <a:pPr algn="ctr"/>
                      <a:r>
                        <a:rPr lang="en-US" sz="900" b="0" i="0" kern="1200" dirty="0">
                          <a:solidFill>
                            <a:schemeClr val="dk1"/>
                          </a:solidFill>
                          <a:effectLst/>
                          <a:latin typeface="+mn-lt"/>
                          <a:ea typeface="+mn-ea"/>
                          <a:cs typeface="+mn-cs"/>
                        </a:rPr>
                        <a:t>The accuracy of the modified pre-trained model </a:t>
                      </a:r>
                      <a:r>
                        <a:rPr lang="en-US" sz="900" b="0" i="0" kern="1200" dirty="0" err="1">
                          <a:solidFill>
                            <a:schemeClr val="dk1"/>
                          </a:solidFill>
                          <a:effectLst/>
                          <a:latin typeface="+mn-lt"/>
                          <a:ea typeface="+mn-ea"/>
                          <a:cs typeface="+mn-cs"/>
                        </a:rPr>
                        <a:t>GoogLeNet</a:t>
                      </a:r>
                      <a:r>
                        <a:rPr lang="en-US" sz="900" b="0" i="0" kern="1200" dirty="0">
                          <a:solidFill>
                            <a:schemeClr val="dk1"/>
                          </a:solidFill>
                          <a:effectLst/>
                          <a:latin typeface="+mn-lt"/>
                          <a:ea typeface="+mn-ea"/>
                          <a:cs typeface="+mn-cs"/>
                        </a:rPr>
                        <a:t> was 89% and the proposed custom model three achieved an accuracy of 95%.</a:t>
                      </a:r>
                      <a:endParaRPr lang="en-IN" sz="900" dirty="0"/>
                    </a:p>
                  </a:txBody>
                  <a:tcPr/>
                </a:tc>
                <a:tc>
                  <a:txBody>
                    <a:bodyPr/>
                    <a:lstStyle/>
                    <a:p>
                      <a:pPr algn="ctr"/>
                      <a:r>
                        <a:rPr lang="en-US" sz="900" b="0" i="0" kern="1200" dirty="0">
                          <a:solidFill>
                            <a:schemeClr val="dk1"/>
                          </a:solidFill>
                          <a:effectLst/>
                          <a:latin typeface="+mn-lt"/>
                          <a:ea typeface="+mn-ea"/>
                          <a:cs typeface="+mn-cs"/>
                        </a:rPr>
                        <a:t> a custom CNN-based computer-aided diagnostic tool can be used as an effective method for the detection of RA.</a:t>
                      </a:r>
                      <a:endParaRPr lang="en-IN" sz="900" dirty="0"/>
                    </a:p>
                  </a:txBody>
                  <a:tcPr/>
                </a:tc>
                <a:extLst>
                  <a:ext uri="{0D108BD9-81ED-4DB2-BD59-A6C34878D82A}">
                    <a16:rowId xmlns:a16="http://schemas.microsoft.com/office/drawing/2014/main" val="1421758752"/>
                  </a:ext>
                </a:extLst>
              </a:tr>
              <a:tr h="326301">
                <a:tc>
                  <a:txBody>
                    <a:bodyPr/>
                    <a:lstStyle/>
                    <a:p>
                      <a:pPr algn="ctr"/>
                      <a:r>
                        <a:rPr lang="en-IN" dirty="0"/>
                        <a:t>13.</a:t>
                      </a:r>
                    </a:p>
                  </a:txBody>
                  <a:tcPr/>
                </a:tc>
                <a:tc>
                  <a:txBody>
                    <a:bodyPr/>
                    <a:lstStyle/>
                    <a:p>
                      <a:pPr algn="ctr"/>
                      <a:r>
                        <a:rPr lang="fi-FI" sz="1100" dirty="0"/>
                        <a:t>Kemal Üreten &amp; Hadi Hakan Maraş </a:t>
                      </a:r>
                    </a:p>
                    <a:p>
                      <a:pPr algn="ctr"/>
                      <a:r>
                        <a:rPr lang="fi-FI" sz="1100" dirty="0"/>
                        <a:t>[2022]</a:t>
                      </a:r>
                      <a:endParaRPr lang="en-IN" sz="1100" dirty="0"/>
                    </a:p>
                  </a:txBody>
                  <a:tcPr/>
                </a:tc>
                <a:tc>
                  <a:txBody>
                    <a:bodyPr/>
                    <a:lstStyle/>
                    <a:p>
                      <a:pPr algn="ctr"/>
                      <a:r>
                        <a:rPr lang="en-IN" sz="1000" dirty="0"/>
                        <a:t>https://link.springer.com/article/10.1007/s10278-021-00564-w</a:t>
                      </a:r>
                    </a:p>
                  </a:txBody>
                  <a:tcPr/>
                </a:tc>
                <a:tc>
                  <a:txBody>
                    <a:bodyPr/>
                    <a:lstStyle/>
                    <a:p>
                      <a:pPr algn="ctr"/>
                      <a:r>
                        <a:rPr lang="en-US" sz="1200" dirty="0"/>
                        <a:t> You Only Look Once (YOLO) algorithm was used to obtain hand images from original radiographs without data loss</a:t>
                      </a:r>
                      <a:endParaRPr lang="en-IN" sz="1200" dirty="0"/>
                    </a:p>
                  </a:txBody>
                  <a:tcPr/>
                </a:tc>
                <a:tc>
                  <a:txBody>
                    <a:bodyPr/>
                    <a:lstStyle/>
                    <a:p>
                      <a:pPr algn="ctr"/>
                      <a:r>
                        <a:rPr lang="en-US" sz="900" dirty="0"/>
                        <a:t> confusion matrix, and AUC (area under the ROC curve) </a:t>
                      </a:r>
                      <a:endParaRPr lang="en-IN" sz="900" dirty="0"/>
                    </a:p>
                  </a:txBody>
                  <a:tcPr/>
                </a:tc>
                <a:tc>
                  <a:txBody>
                    <a:bodyPr/>
                    <a:lstStyle/>
                    <a:p>
                      <a:pPr algn="ctr"/>
                      <a:r>
                        <a:rPr lang="en-US" sz="900" b="0" i="0" kern="1200" dirty="0">
                          <a:solidFill>
                            <a:schemeClr val="dk1"/>
                          </a:solidFill>
                          <a:effectLst/>
                          <a:latin typeface="+mn-lt"/>
                          <a:ea typeface="+mn-ea"/>
                          <a:cs typeface="+mn-cs"/>
                        </a:rPr>
                        <a:t> In the classification of rheumatoid arthritis and normal hand radiographs, 90.7%, 92.6%, 88.7%, 89.3%, and 0.97 accuracy, sensitivity, specificity, precision, and AUC results, respectively</a:t>
                      </a:r>
                      <a:endParaRPr lang="en-IN" sz="900" dirty="0"/>
                    </a:p>
                  </a:txBody>
                  <a:tcPr/>
                </a:tc>
                <a:tc>
                  <a:txBody>
                    <a:bodyPr/>
                    <a:lstStyle/>
                    <a:p>
                      <a:pPr algn="ctr"/>
                      <a:r>
                        <a:rPr lang="en-US" sz="900" b="0" i="0" kern="1200" dirty="0">
                          <a:solidFill>
                            <a:schemeClr val="dk1"/>
                          </a:solidFill>
                          <a:effectLst/>
                          <a:latin typeface="+mn-lt"/>
                          <a:ea typeface="+mn-ea"/>
                          <a:cs typeface="+mn-cs"/>
                        </a:rPr>
                        <a:t>This computer-aided diagnosis method can assist clinicians in interpreting hand radiographs, especially in rheumatoid arthritis and osteoarthritis.</a:t>
                      </a:r>
                      <a:endParaRPr lang="en-IN" sz="900" dirty="0"/>
                    </a:p>
                  </a:txBody>
                  <a:tcPr/>
                </a:tc>
                <a:extLst>
                  <a:ext uri="{0D108BD9-81ED-4DB2-BD59-A6C34878D82A}">
                    <a16:rowId xmlns:a16="http://schemas.microsoft.com/office/drawing/2014/main" val="47217992"/>
                  </a:ext>
                </a:extLst>
              </a:tr>
              <a:tr h="326301">
                <a:tc>
                  <a:txBody>
                    <a:bodyPr/>
                    <a:lstStyle/>
                    <a:p>
                      <a:pPr algn="ctr"/>
                      <a:r>
                        <a:rPr lang="en-IN" dirty="0"/>
                        <a:t>14.</a:t>
                      </a:r>
                    </a:p>
                  </a:txBody>
                  <a:tcPr/>
                </a:tc>
                <a:tc>
                  <a:txBody>
                    <a:bodyPr/>
                    <a:lstStyle/>
                    <a:p>
                      <a:pPr algn="ctr"/>
                      <a:r>
                        <a:rPr lang="en-IN" sz="1100" dirty="0"/>
                        <a:t>Sara </a:t>
                      </a:r>
                      <a:r>
                        <a:rPr lang="en-IN" sz="1100" dirty="0" err="1"/>
                        <a:t>Momtazmanesh</a:t>
                      </a:r>
                      <a:r>
                        <a:rPr lang="en-IN" sz="1100" dirty="0"/>
                        <a:t>, Ali Nowroozi &amp; Nima Rezaei</a:t>
                      </a:r>
                    </a:p>
                    <a:p>
                      <a:pPr algn="ctr"/>
                      <a:r>
                        <a:rPr lang="en-IN" sz="1100" dirty="0"/>
                        <a:t>[2020]</a:t>
                      </a:r>
                    </a:p>
                  </a:txBody>
                  <a:tcPr/>
                </a:tc>
                <a:tc>
                  <a:txBody>
                    <a:bodyPr/>
                    <a:lstStyle/>
                    <a:p>
                      <a:pPr algn="ctr"/>
                      <a:r>
                        <a:rPr lang="en-IN" sz="1000" dirty="0"/>
                        <a:t>https://link.springer.com/article/10.1007/s40744-022-00475-4</a:t>
                      </a:r>
                    </a:p>
                  </a:txBody>
                  <a:tcPr/>
                </a:tc>
                <a:tc>
                  <a:txBody>
                    <a:bodyPr/>
                    <a:lstStyle/>
                    <a:p>
                      <a:pPr algn="ctr"/>
                      <a:r>
                        <a:rPr lang="en-US" sz="1000" dirty="0"/>
                        <a:t>Random forest, SVM, neural networks, and natural language processing (NLP)</a:t>
                      </a:r>
                      <a:endParaRPr lang="en-IN" sz="1000" dirty="0"/>
                    </a:p>
                  </a:txBody>
                  <a:tcPr/>
                </a:tc>
                <a:tc>
                  <a:txBody>
                    <a:bodyPr/>
                    <a:lstStyle/>
                    <a:p>
                      <a:pPr algn="ctr"/>
                      <a:r>
                        <a:rPr lang="en-IN" sz="1050" dirty="0"/>
                        <a:t>Feature Importance Analysis</a:t>
                      </a:r>
                    </a:p>
                  </a:txBody>
                  <a:tcPr/>
                </a:tc>
                <a:tc>
                  <a:txBody>
                    <a:bodyPr/>
                    <a:lstStyle/>
                    <a:p>
                      <a:pPr algn="ctr"/>
                      <a:r>
                        <a:rPr lang="en-US" sz="900" b="0" i="0" kern="1200" dirty="0">
                          <a:solidFill>
                            <a:schemeClr val="dk1"/>
                          </a:solidFill>
                          <a:effectLst/>
                          <a:latin typeface="+mn-lt"/>
                          <a:ea typeface="+mn-ea"/>
                          <a:cs typeface="+mn-cs"/>
                        </a:rPr>
                        <a:t>not all aspects of the pathways involved in RA pathogenesis are known (133), mainly due to the complexity and extensiveness of involving factors</a:t>
                      </a:r>
                      <a:endParaRPr lang="en-IN" sz="900" dirty="0"/>
                    </a:p>
                  </a:txBody>
                  <a:tcPr/>
                </a:tc>
                <a:tc>
                  <a:txBody>
                    <a:bodyPr/>
                    <a:lstStyle/>
                    <a:p>
                      <a:pPr algn="ctr"/>
                      <a:r>
                        <a:rPr lang="en-US" sz="900" b="0" i="0" kern="1200" dirty="0">
                          <a:solidFill>
                            <a:schemeClr val="dk1"/>
                          </a:solidFill>
                          <a:effectLst/>
                          <a:latin typeface="+mn-lt"/>
                          <a:ea typeface="+mn-ea"/>
                          <a:cs typeface="+mn-cs"/>
                        </a:rPr>
                        <a:t>Identifying patients for whom non-biological DMARDs are safe and effective substitutes using AI algorithms can be immensely helpful considering the higher cost of </a:t>
                      </a:r>
                      <a:r>
                        <a:rPr lang="en-US" sz="900" b="0" i="0" kern="1200" dirty="0" err="1">
                          <a:solidFill>
                            <a:schemeClr val="dk1"/>
                          </a:solidFill>
                          <a:effectLst/>
                          <a:latin typeface="+mn-lt"/>
                          <a:ea typeface="+mn-ea"/>
                          <a:cs typeface="+mn-cs"/>
                        </a:rPr>
                        <a:t>bDMARDs</a:t>
                      </a:r>
                      <a:r>
                        <a:rPr lang="en-US" sz="900" b="0" i="0" kern="1200" dirty="0">
                          <a:solidFill>
                            <a:schemeClr val="dk1"/>
                          </a:solidFill>
                          <a:effectLst/>
                          <a:latin typeface="+mn-lt"/>
                          <a:ea typeface="+mn-ea"/>
                          <a:cs typeface="+mn-cs"/>
                        </a:rPr>
                        <a:t> and their unavailability to many patients</a:t>
                      </a:r>
                      <a:endParaRPr lang="en-IN" sz="900" dirty="0"/>
                    </a:p>
                  </a:txBody>
                  <a:tcPr/>
                </a:tc>
                <a:extLst>
                  <a:ext uri="{0D108BD9-81ED-4DB2-BD59-A6C34878D82A}">
                    <a16:rowId xmlns:a16="http://schemas.microsoft.com/office/drawing/2014/main" val="2704009763"/>
                  </a:ext>
                </a:extLst>
              </a:tr>
              <a:tr h="625410">
                <a:tc>
                  <a:txBody>
                    <a:bodyPr/>
                    <a:lstStyle/>
                    <a:p>
                      <a:pPr algn="ctr"/>
                      <a:r>
                        <a:rPr lang="en-IN" dirty="0"/>
                        <a:t>15.</a:t>
                      </a:r>
                    </a:p>
                  </a:txBody>
                  <a:tcPr/>
                </a:tc>
                <a:tc>
                  <a:txBody>
                    <a:bodyPr/>
                    <a:lstStyle/>
                    <a:p>
                      <a:pPr algn="ctr"/>
                      <a:r>
                        <a:rPr lang="en-IN" sz="1100" dirty="0">
                          <a:effectLst/>
                        </a:rPr>
                        <a:t>Mohammed Fadhil Mahdi </a:t>
                      </a:r>
                      <a:r>
                        <a:rPr lang="en-IN" sz="1100" b="0" i="0" kern="1200" dirty="0">
                          <a:solidFill>
                            <a:schemeClr val="dk1"/>
                          </a:solidFill>
                          <a:effectLst/>
                          <a:latin typeface="+mn-lt"/>
                          <a:ea typeface="+mn-ea"/>
                          <a:cs typeface="+mn-cs"/>
                        </a:rPr>
                        <a:t>, </a:t>
                      </a:r>
                      <a:r>
                        <a:rPr lang="en-IN" sz="1100" dirty="0">
                          <a:effectLst/>
                        </a:rPr>
                        <a:t>Arezoo Jahani </a:t>
                      </a:r>
                      <a:r>
                        <a:rPr lang="en-IN" sz="1100" b="0" i="0" kern="1200" dirty="0">
                          <a:solidFill>
                            <a:schemeClr val="dk1"/>
                          </a:solidFill>
                          <a:effectLst/>
                          <a:latin typeface="+mn-lt"/>
                          <a:ea typeface="+mn-ea"/>
                          <a:cs typeface="+mn-cs"/>
                        </a:rPr>
                        <a:t>,</a:t>
                      </a:r>
                    </a:p>
                    <a:p>
                      <a:pPr algn="ctr"/>
                      <a:r>
                        <a:rPr lang="en-IN" sz="1100" b="0" i="0" kern="1200" dirty="0">
                          <a:solidFill>
                            <a:schemeClr val="dk1"/>
                          </a:solidFill>
                          <a:effectLst/>
                          <a:latin typeface="+mn-lt"/>
                          <a:ea typeface="+mn-ea"/>
                          <a:cs typeface="+mn-cs"/>
                        </a:rPr>
                        <a:t> </a:t>
                      </a:r>
                      <a:r>
                        <a:rPr lang="en-IN" sz="1100" dirty="0" err="1">
                          <a:effectLst/>
                        </a:rPr>
                        <a:t>Dhafar</a:t>
                      </a:r>
                      <a:r>
                        <a:rPr lang="en-IN" sz="1100" dirty="0">
                          <a:effectLst/>
                        </a:rPr>
                        <a:t> Hamed Abd </a:t>
                      </a:r>
                    </a:p>
                    <a:p>
                      <a:pPr algn="ctr"/>
                      <a:r>
                        <a:rPr lang="en-IN" sz="1100" dirty="0">
                          <a:effectLst/>
                        </a:rPr>
                        <a:t>[2025]</a:t>
                      </a:r>
                      <a:endParaRPr lang="en-IN" sz="1100" dirty="0"/>
                    </a:p>
                  </a:txBody>
                  <a:tcPr/>
                </a:tc>
                <a:tc>
                  <a:txBody>
                    <a:bodyPr/>
                    <a:lstStyle/>
                    <a:p>
                      <a:pPr algn="ctr"/>
                      <a:r>
                        <a:rPr lang="en-IN" sz="1000" dirty="0"/>
                        <a:t>https://www.sciencedirect.com/science/article/pii/S2352340925003555?via%3Dihub</a:t>
                      </a:r>
                    </a:p>
                  </a:txBody>
                  <a:tcPr/>
                </a:tc>
                <a:tc>
                  <a:txBody>
                    <a:bodyPr/>
                    <a:lstStyle/>
                    <a:p>
                      <a:pPr algn="ctr"/>
                      <a:r>
                        <a:rPr lang="en-US" sz="1200" b="0" i="0" kern="1200" dirty="0">
                          <a:solidFill>
                            <a:schemeClr val="dk1"/>
                          </a:solidFill>
                          <a:effectLst/>
                          <a:latin typeface="+mn-lt"/>
                          <a:ea typeface="+mn-ea"/>
                          <a:cs typeface="+mn-cs"/>
                        </a:rPr>
                        <a:t>Arthritis and Rheumatology, Machine Learning</a:t>
                      </a:r>
                      <a:endParaRPr lang="en-IN" sz="1200" dirty="0"/>
                    </a:p>
                  </a:txBody>
                  <a:tcPr/>
                </a:tc>
                <a:tc>
                  <a:txBody>
                    <a:bodyPr/>
                    <a:lstStyle/>
                    <a:p>
                      <a:pPr algn="ctr"/>
                      <a:r>
                        <a:rPr lang="en-IN" dirty="0"/>
                        <a:t>Confusion Matrix</a:t>
                      </a:r>
                    </a:p>
                  </a:txBody>
                  <a:tcPr/>
                </a:tc>
                <a:tc>
                  <a:txBody>
                    <a:bodyPr/>
                    <a:lstStyle/>
                    <a:p>
                      <a:pPr algn="ctr"/>
                      <a:r>
                        <a:rPr lang="en-US" sz="1050" b="0" i="0" kern="1200" dirty="0">
                          <a:solidFill>
                            <a:schemeClr val="dk1"/>
                          </a:solidFill>
                          <a:effectLst/>
                          <a:latin typeface="+mn-lt"/>
                          <a:ea typeface="+mn-ea"/>
                          <a:cs typeface="+mn-cs"/>
                        </a:rPr>
                        <a:t>Age and sex features are complete, with no missing data. However, continuous features such as ESR, CRP, RF, and anti-CCP have missing data ranging from 9% to 27%</a:t>
                      </a:r>
                      <a:endParaRPr lang="en-IN" sz="1050" dirty="0"/>
                    </a:p>
                  </a:txBody>
                  <a:tcPr/>
                </a:tc>
                <a:tc>
                  <a:txBody>
                    <a:bodyPr/>
                    <a:lstStyle/>
                    <a:p>
                      <a:pPr algn="ctr"/>
                      <a:r>
                        <a:rPr lang="en-US" sz="900" b="0" i="0" kern="1200" dirty="0">
                          <a:solidFill>
                            <a:schemeClr val="dk1"/>
                          </a:solidFill>
                          <a:effectLst/>
                          <a:latin typeface="+mn-lt"/>
                          <a:ea typeface="+mn-ea"/>
                          <a:cs typeface="+mn-cs"/>
                        </a:rPr>
                        <a:t>Despite the uniqueness of our dataset, we identified three limitations that can impact the performance of the training model. First, the dataset has an imbalanced class distribution, which can bias the model toward the majority class and reduce its generalization to minority classes.</a:t>
                      </a:r>
                      <a:endParaRPr lang="en-IN" sz="900" dirty="0"/>
                    </a:p>
                  </a:txBody>
                  <a:tcPr/>
                </a:tc>
                <a:extLst>
                  <a:ext uri="{0D108BD9-81ED-4DB2-BD59-A6C34878D82A}">
                    <a16:rowId xmlns:a16="http://schemas.microsoft.com/office/drawing/2014/main" val="181879123"/>
                  </a:ext>
                </a:extLst>
              </a:tr>
            </a:tbl>
          </a:graphicData>
        </a:graphic>
      </p:graphicFrame>
    </p:spTree>
    <p:extLst>
      <p:ext uri="{BB962C8B-B14F-4D97-AF65-F5344CB8AC3E}">
        <p14:creationId xmlns:p14="http://schemas.microsoft.com/office/powerpoint/2010/main" val="424380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991184" y="275302"/>
            <a:ext cx="7043617" cy="363793"/>
          </a:xfrm>
        </p:spPr>
        <p:txBody>
          <a:bodyPr/>
          <a:lstStyle/>
          <a:p>
            <a:r>
              <a:rPr lang="en-US" u="sng" dirty="0"/>
              <a:t>methodology</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7" name="Content Placeholder 6">
            <a:extLst>
              <a:ext uri="{FF2B5EF4-FFF2-40B4-BE49-F238E27FC236}">
                <a16:creationId xmlns:a16="http://schemas.microsoft.com/office/drawing/2014/main" id="{94CFE555-8EA8-6D54-32E0-17C2940D6FB4}"/>
              </a:ext>
            </a:extLst>
          </p:cNvPr>
          <p:cNvSpPr>
            <a:spLocks noGrp="1"/>
          </p:cNvSpPr>
          <p:nvPr>
            <p:ph idx="11"/>
          </p:nvPr>
        </p:nvSpPr>
        <p:spPr>
          <a:xfrm>
            <a:off x="4187828" y="1390014"/>
            <a:ext cx="7043618" cy="5325418"/>
          </a:xfrm>
        </p:spPr>
        <p:txBody>
          <a:bodyPr>
            <a:normAutofit/>
          </a:bodyPr>
          <a:lstStyle/>
          <a:p>
            <a:r>
              <a:rPr lang="en-US" b="1" dirty="0">
                <a:solidFill>
                  <a:srgbClr val="7030A0"/>
                </a:solidFill>
              </a:rPr>
              <a:t>1. Problem Definition</a:t>
            </a:r>
          </a:p>
          <a:p>
            <a:r>
              <a:rPr lang="en-US" sz="1400" b="1" dirty="0"/>
              <a:t>Problem</a:t>
            </a:r>
            <a:r>
              <a:rPr lang="en-US" sz="1400" dirty="0"/>
              <a:t>: Rheumatoid arthritis (RA) is an autoimmune disease that is often diagnosed late or with uncertainty because of reliance on clinical judgment, lab tests, and imaging. Misdiagnosis or delays can lead to irreversible joint damage.</a:t>
            </a:r>
          </a:p>
          <a:p>
            <a:r>
              <a:rPr lang="en-US" sz="1400" b="1" dirty="0"/>
              <a:t>Goal</a:t>
            </a:r>
            <a:r>
              <a:rPr lang="en-US" sz="1400" dirty="0"/>
              <a:t>: Develop a </a:t>
            </a:r>
            <a:r>
              <a:rPr lang="en-US" sz="1400" b="1" dirty="0"/>
              <a:t>machine-learning model</a:t>
            </a:r>
            <a:r>
              <a:rPr lang="en-US" sz="1400" dirty="0"/>
              <a:t>, specifically a </a:t>
            </a:r>
            <a:r>
              <a:rPr lang="en-US" sz="1400" b="1" dirty="0"/>
              <a:t>Random Forest classifier</a:t>
            </a:r>
            <a:r>
              <a:rPr lang="en-US" sz="1400" dirty="0"/>
              <a:t>, to detect RA using multimodal patient data (clinical features, labs, imaging, etc.), with high sensitivity and specificity. The model should also be interpretable so clinicians can trust and act on its predictions.</a:t>
            </a:r>
          </a:p>
          <a:p>
            <a:r>
              <a:rPr lang="en-US" b="1" dirty="0">
                <a:solidFill>
                  <a:srgbClr val="7030A0"/>
                </a:solidFill>
              </a:rPr>
              <a:t>2. Data Collection &amp; Preprocessing</a:t>
            </a:r>
          </a:p>
          <a:p>
            <a:r>
              <a:rPr lang="en-US" sz="1400" b="1" dirty="0"/>
              <a:t>Data Collection: </a:t>
            </a:r>
            <a:r>
              <a:rPr lang="en-US" sz="1400" dirty="0"/>
              <a:t>a dataset of patients (RA and controls) with their clinical, lab, and imaging data is gathered.</a:t>
            </a:r>
          </a:p>
          <a:p>
            <a:r>
              <a:rPr lang="en-US" sz="1400" b="1" dirty="0"/>
              <a:t>Data Cleaning</a:t>
            </a:r>
            <a:endParaRPr lang="en-US" sz="1400" dirty="0"/>
          </a:p>
          <a:p>
            <a:r>
              <a:rPr lang="en-US" sz="1400" dirty="0"/>
              <a:t>Handling missing values: impute missing clinical/lab data using </a:t>
            </a:r>
            <a:r>
              <a:rPr lang="en-US" sz="1400" i="1" dirty="0"/>
              <a:t>Random Forest imputation</a:t>
            </a:r>
            <a:endParaRPr lang="en-US" sz="1400" dirty="0"/>
          </a:p>
          <a:p>
            <a:endParaRPr lang="en-US" sz="1400" dirty="0"/>
          </a:p>
          <a:p>
            <a:r>
              <a:rPr lang="en-US" b="1" dirty="0">
                <a:solidFill>
                  <a:srgbClr val="7030A0"/>
                </a:solidFill>
              </a:rPr>
              <a:t>3. Model Development — Random Forest</a:t>
            </a:r>
            <a:endParaRPr lang="en-IN" b="1" dirty="0">
              <a:solidFill>
                <a:srgbClr val="7030A0"/>
              </a:solidFill>
            </a:endParaRPr>
          </a:p>
          <a:p>
            <a:r>
              <a:rPr lang="en-IN" b="1" dirty="0">
                <a:solidFill>
                  <a:srgbClr val="7030A0"/>
                </a:solidFill>
              </a:rPr>
              <a:t>4. Building pipeline </a:t>
            </a:r>
          </a:p>
          <a:p>
            <a:r>
              <a:rPr lang="en-IN" b="1" dirty="0">
                <a:solidFill>
                  <a:srgbClr val="7030A0"/>
                </a:solidFill>
              </a:rPr>
              <a:t>5. Training the model</a:t>
            </a:r>
          </a:p>
          <a:p>
            <a:r>
              <a:rPr lang="en-IN" b="1" dirty="0">
                <a:solidFill>
                  <a:srgbClr val="7030A0"/>
                </a:solidFill>
              </a:rPr>
              <a:t>6. Evaluating on test data</a:t>
            </a:r>
          </a:p>
          <a:p>
            <a:r>
              <a:rPr lang="en-US" b="1" dirty="0">
                <a:solidFill>
                  <a:srgbClr val="7030A0"/>
                </a:solidFill>
              </a:rPr>
              <a:t>7. Saving the trained pipeline/model</a:t>
            </a:r>
            <a:endParaRPr lang="en-IN" b="1" dirty="0">
              <a:solidFill>
                <a:srgbClr val="7030A0"/>
              </a:solidFill>
            </a:endParaRPr>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765973" y="317495"/>
            <a:ext cx="7796464" cy="1222385"/>
          </a:xfrm>
        </p:spPr>
        <p:txBody>
          <a:bodyPr/>
          <a:lstStyle/>
          <a:p>
            <a:r>
              <a:rPr lang="en-US" u="sng" dirty="0"/>
              <a:t>implementation</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303028"/>
            <a:ext cx="3283119" cy="3720337"/>
          </a:xfrm>
        </p:spPr>
        <p:txBody>
          <a:bodyPr>
            <a:normAutofit/>
          </a:bodyPr>
          <a:lstStyle/>
          <a:p>
            <a:r>
              <a:rPr lang="en-US" dirty="0"/>
              <a:t>Python is used  for implementation</a:t>
            </a:r>
          </a:p>
        </p:txBody>
      </p:sp>
      <p:pic>
        <p:nvPicPr>
          <p:cNvPr id="35" name="Content Placeholder 34" descr="A screenshot of a computer program&#10;&#10;AI-generated content may be incorrect.">
            <a:extLst>
              <a:ext uri="{FF2B5EF4-FFF2-40B4-BE49-F238E27FC236}">
                <a16:creationId xmlns:a16="http://schemas.microsoft.com/office/drawing/2014/main" id="{22E7A2DC-532C-D84F-4B03-40A7AC817F88}"/>
              </a:ext>
            </a:extLst>
          </p:cNvPr>
          <p:cNvPicPr>
            <a:picLocks noGrp="1" noChangeAspect="1"/>
          </p:cNvPicPr>
          <p:nvPr>
            <p:ph sz="quarter" idx="4"/>
          </p:nvPr>
        </p:nvPicPr>
        <p:blipFill>
          <a:blip r:embed="rId3"/>
          <a:stretch>
            <a:fillRect/>
          </a:stretch>
        </p:blipFill>
        <p:spPr>
          <a:xfrm>
            <a:off x="3185652" y="2303028"/>
            <a:ext cx="5791200" cy="4255088"/>
          </a:xfrm>
        </p:spPr>
      </p:pic>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endParaRPr lang="en-US" dirty="0"/>
          </a:p>
        </p:txBody>
      </p:sp>
      <p:pic>
        <p:nvPicPr>
          <p:cNvPr id="7" name="Content Placeholder 6" descr="A screenshot of a computer program&#10;&#10;AI-generated content may be incorrect.">
            <a:extLst>
              <a:ext uri="{FF2B5EF4-FFF2-40B4-BE49-F238E27FC236}">
                <a16:creationId xmlns:a16="http://schemas.microsoft.com/office/drawing/2014/main" id="{E9AB0838-0F78-E2BB-D643-E22E29A50772}"/>
              </a:ext>
            </a:extLst>
          </p:cNvPr>
          <p:cNvPicPr>
            <a:picLocks noGrp="1" noChangeAspect="1"/>
          </p:cNvPicPr>
          <p:nvPr>
            <p:ph sz="half" idx="15"/>
          </p:nvPr>
        </p:nvPicPr>
        <p:blipFill>
          <a:blip r:embed="rId3"/>
          <a:stretch>
            <a:fillRect/>
          </a:stretch>
        </p:blipFill>
        <p:spPr>
          <a:xfrm>
            <a:off x="1441148" y="474405"/>
            <a:ext cx="4202568" cy="5989639"/>
          </a:xfrm>
        </p:spPr>
      </p:pic>
      <p:pic>
        <p:nvPicPr>
          <p:cNvPr id="9" name="Content Placeholder 8" descr="A screenshot of a computer program&#10;&#10;AI-generated content may be incorrect.">
            <a:extLst>
              <a:ext uri="{FF2B5EF4-FFF2-40B4-BE49-F238E27FC236}">
                <a16:creationId xmlns:a16="http://schemas.microsoft.com/office/drawing/2014/main" id="{C6139478-B32F-1EE5-9072-F052D13B5CCA}"/>
              </a:ext>
            </a:extLst>
          </p:cNvPr>
          <p:cNvPicPr>
            <a:picLocks noGrp="1" noChangeAspect="1"/>
          </p:cNvPicPr>
          <p:nvPr>
            <p:ph sz="half" idx="1"/>
          </p:nvPr>
        </p:nvPicPr>
        <p:blipFill>
          <a:blip r:embed="rId4"/>
          <a:stretch>
            <a:fillRect/>
          </a:stretch>
        </p:blipFill>
        <p:spPr>
          <a:xfrm>
            <a:off x="6753032" y="457199"/>
            <a:ext cx="4780207" cy="5989639"/>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endParaRPr lang="en-US" dirty="0"/>
          </a:p>
        </p:txBody>
      </p:sp>
      <p:pic>
        <p:nvPicPr>
          <p:cNvPr id="9" name="Content Placeholder 8" descr="A screenshot of a computer program&#10;&#10;AI-generated content may be incorrect.">
            <a:extLst>
              <a:ext uri="{FF2B5EF4-FFF2-40B4-BE49-F238E27FC236}">
                <a16:creationId xmlns:a16="http://schemas.microsoft.com/office/drawing/2014/main" id="{F01B4276-9AFC-3050-EE92-0D1C1F0AAFC5}"/>
              </a:ext>
            </a:extLst>
          </p:cNvPr>
          <p:cNvPicPr>
            <a:picLocks noGrp="1" noChangeAspect="1"/>
          </p:cNvPicPr>
          <p:nvPr>
            <p:ph idx="13"/>
          </p:nvPr>
        </p:nvPicPr>
        <p:blipFill>
          <a:blip r:embed="rId3"/>
          <a:stretch>
            <a:fillRect/>
          </a:stretch>
        </p:blipFill>
        <p:spPr>
          <a:xfrm>
            <a:off x="6711290" y="692943"/>
            <a:ext cx="4920272" cy="5911808"/>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pic>
        <p:nvPicPr>
          <p:cNvPr id="22" name="Picture 21" descr="A screenshot of a computer&#10;&#10;AI-generated content may be incorrect.">
            <a:extLst>
              <a:ext uri="{FF2B5EF4-FFF2-40B4-BE49-F238E27FC236}">
                <a16:creationId xmlns:a16="http://schemas.microsoft.com/office/drawing/2014/main" id="{FA6E1074-288E-2E20-A6E0-754E9C0EDE12}"/>
              </a:ext>
            </a:extLst>
          </p:cNvPr>
          <p:cNvPicPr>
            <a:picLocks noChangeAspect="1"/>
          </p:cNvPicPr>
          <p:nvPr/>
        </p:nvPicPr>
        <p:blipFill>
          <a:blip r:embed="rId4"/>
          <a:stretch>
            <a:fillRect/>
          </a:stretch>
        </p:blipFill>
        <p:spPr>
          <a:xfrm>
            <a:off x="914400" y="545689"/>
            <a:ext cx="5114719" cy="6035676"/>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CB302-7299-B6F4-E45B-DD41DA6FB967}"/>
              </a:ext>
            </a:extLst>
          </p:cNvPr>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4" name="Picture 3" descr="A screenshot of a computer program&#10;&#10;AI-generated content may be incorrect.">
            <a:extLst>
              <a:ext uri="{FF2B5EF4-FFF2-40B4-BE49-F238E27FC236}">
                <a16:creationId xmlns:a16="http://schemas.microsoft.com/office/drawing/2014/main" id="{0C1904D6-01F0-BBEF-2990-0D262993FE3D}"/>
              </a:ext>
            </a:extLst>
          </p:cNvPr>
          <p:cNvPicPr>
            <a:picLocks noChangeAspect="1"/>
          </p:cNvPicPr>
          <p:nvPr/>
        </p:nvPicPr>
        <p:blipFill>
          <a:blip r:embed="rId2"/>
          <a:stretch>
            <a:fillRect/>
          </a:stretch>
        </p:blipFill>
        <p:spPr>
          <a:xfrm>
            <a:off x="2414205" y="230600"/>
            <a:ext cx="7678222" cy="6554115"/>
          </a:xfrm>
          <a:prstGeom prst="rect">
            <a:avLst/>
          </a:prstGeom>
        </p:spPr>
      </p:pic>
    </p:spTree>
    <p:extLst>
      <p:ext uri="{BB962C8B-B14F-4D97-AF65-F5344CB8AC3E}">
        <p14:creationId xmlns:p14="http://schemas.microsoft.com/office/powerpoint/2010/main" val="713759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549C77-6DE1-E3F2-234F-9C3B5C3AB92C}"/>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36CE5F5E-B558-725F-3A66-BF00B4B63E20}"/>
              </a:ext>
            </a:extLst>
          </p:cNvPr>
          <p:cNvPicPr>
            <a:picLocks noChangeAspect="1"/>
          </p:cNvPicPr>
          <p:nvPr/>
        </p:nvPicPr>
        <p:blipFill>
          <a:blip r:embed="rId2"/>
          <a:stretch>
            <a:fillRect/>
          </a:stretch>
        </p:blipFill>
        <p:spPr>
          <a:xfrm>
            <a:off x="2466468" y="75732"/>
            <a:ext cx="7259063" cy="6706536"/>
          </a:xfrm>
          <a:prstGeom prst="rect">
            <a:avLst/>
          </a:prstGeom>
        </p:spPr>
      </p:pic>
    </p:spTree>
    <p:extLst>
      <p:ext uri="{BB962C8B-B14F-4D97-AF65-F5344CB8AC3E}">
        <p14:creationId xmlns:p14="http://schemas.microsoft.com/office/powerpoint/2010/main" val="4172529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762A98-664E-2224-ED83-C01AA7AC114F}"/>
              </a:ext>
            </a:extLst>
          </p:cNvPr>
          <p:cNvSpPr>
            <a:spLocks noGrp="1"/>
          </p:cNvSpPr>
          <p:nvPr>
            <p:ph type="sldNum" sz="quarter" idx="12"/>
          </p:nvPr>
        </p:nvSpPr>
        <p:spPr/>
        <p:txBody>
          <a:bodyPr/>
          <a:lstStyle/>
          <a:p>
            <a:fld id="{48F63A3B-78C7-47BE-AE5E-E10140E04643}" type="slidenum">
              <a:rPr lang="en-US" smtClean="0"/>
              <a:pPr/>
              <a:t>13</a:t>
            </a:fld>
            <a:endParaRPr lang="en-US" dirty="0"/>
          </a:p>
        </p:txBody>
      </p:sp>
      <p:pic>
        <p:nvPicPr>
          <p:cNvPr id="4" name="Picture 3" descr="A screenshot of a computer program&#10;&#10;AI-generated content may be incorrect.">
            <a:extLst>
              <a:ext uri="{FF2B5EF4-FFF2-40B4-BE49-F238E27FC236}">
                <a16:creationId xmlns:a16="http://schemas.microsoft.com/office/drawing/2014/main" id="{76365737-940A-B2AA-0975-8307F844226C}"/>
              </a:ext>
            </a:extLst>
          </p:cNvPr>
          <p:cNvPicPr>
            <a:picLocks noChangeAspect="1"/>
          </p:cNvPicPr>
          <p:nvPr/>
        </p:nvPicPr>
        <p:blipFill>
          <a:blip r:embed="rId2"/>
          <a:stretch>
            <a:fillRect/>
          </a:stretch>
        </p:blipFill>
        <p:spPr>
          <a:xfrm>
            <a:off x="1885362" y="137653"/>
            <a:ext cx="8421275" cy="6582694"/>
          </a:xfrm>
          <a:prstGeom prst="rect">
            <a:avLst/>
          </a:prstGeom>
        </p:spPr>
      </p:pic>
    </p:spTree>
    <p:extLst>
      <p:ext uri="{BB962C8B-B14F-4D97-AF65-F5344CB8AC3E}">
        <p14:creationId xmlns:p14="http://schemas.microsoft.com/office/powerpoint/2010/main" val="1328539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66CBF-0DD2-345C-E9D4-A12F68A1D6E7}"/>
              </a:ext>
            </a:extLst>
          </p:cNvPr>
          <p:cNvSpPr>
            <a:spLocks noGrp="1"/>
          </p:cNvSpPr>
          <p:nvPr>
            <p:ph type="sldNum" sz="quarter" idx="12"/>
          </p:nvPr>
        </p:nvSpPr>
        <p:spPr/>
        <p:txBody>
          <a:bodyPr/>
          <a:lstStyle/>
          <a:p>
            <a:fld id="{48F63A3B-78C7-47BE-AE5E-E10140E04643}" type="slidenum">
              <a:rPr lang="en-US" smtClean="0"/>
              <a:pPr/>
              <a:t>14</a:t>
            </a:fld>
            <a:endParaRPr lang="en-US" dirty="0"/>
          </a:p>
        </p:txBody>
      </p:sp>
      <p:pic>
        <p:nvPicPr>
          <p:cNvPr id="4" name="Picture 3" descr="A screen shot of a computer program&#10;&#10;AI-generated content may be incorrect.">
            <a:extLst>
              <a:ext uri="{FF2B5EF4-FFF2-40B4-BE49-F238E27FC236}">
                <a16:creationId xmlns:a16="http://schemas.microsoft.com/office/drawing/2014/main" id="{D1A1500B-DB2A-6463-C3AE-B0F4C88E9499}"/>
              </a:ext>
            </a:extLst>
          </p:cNvPr>
          <p:cNvPicPr>
            <a:picLocks noChangeAspect="1"/>
          </p:cNvPicPr>
          <p:nvPr/>
        </p:nvPicPr>
        <p:blipFill>
          <a:blip r:embed="rId2"/>
          <a:stretch>
            <a:fillRect/>
          </a:stretch>
        </p:blipFill>
        <p:spPr>
          <a:xfrm>
            <a:off x="1604335" y="452022"/>
            <a:ext cx="8983329" cy="5953956"/>
          </a:xfrm>
          <a:prstGeom prst="rect">
            <a:avLst/>
          </a:prstGeom>
        </p:spPr>
      </p:pic>
    </p:spTree>
    <p:extLst>
      <p:ext uri="{BB962C8B-B14F-4D97-AF65-F5344CB8AC3E}">
        <p14:creationId xmlns:p14="http://schemas.microsoft.com/office/powerpoint/2010/main" val="2263331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98301-85A9-3C40-539C-0062A85E3805}"/>
              </a:ext>
            </a:extLst>
          </p:cNvPr>
          <p:cNvSpPr>
            <a:spLocks noGrp="1"/>
          </p:cNvSpPr>
          <p:nvPr>
            <p:ph type="sldNum" sz="quarter" idx="12"/>
          </p:nvPr>
        </p:nvSpPr>
        <p:spPr/>
        <p:txBody>
          <a:bodyPr/>
          <a:lstStyle/>
          <a:p>
            <a:fld id="{48F63A3B-78C7-47BE-AE5E-E10140E04643}" type="slidenum">
              <a:rPr lang="en-US" smtClean="0"/>
              <a:pPr/>
              <a:t>15</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4983DC73-4391-87C8-9D04-25734CFDB821}"/>
              </a:ext>
            </a:extLst>
          </p:cNvPr>
          <p:cNvPicPr>
            <a:picLocks noChangeAspect="1"/>
          </p:cNvPicPr>
          <p:nvPr/>
        </p:nvPicPr>
        <p:blipFill>
          <a:blip r:embed="rId2"/>
          <a:stretch>
            <a:fillRect/>
          </a:stretch>
        </p:blipFill>
        <p:spPr>
          <a:xfrm>
            <a:off x="1794862" y="256732"/>
            <a:ext cx="8602275" cy="6344535"/>
          </a:xfrm>
          <a:prstGeom prst="rect">
            <a:avLst/>
          </a:prstGeom>
        </p:spPr>
      </p:pic>
    </p:spTree>
    <p:extLst>
      <p:ext uri="{BB962C8B-B14F-4D97-AF65-F5344CB8AC3E}">
        <p14:creationId xmlns:p14="http://schemas.microsoft.com/office/powerpoint/2010/main" val="3093573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D2C7DB-4D34-3409-0439-A850F2F4BC71}"/>
              </a:ext>
            </a:extLst>
          </p:cNvPr>
          <p:cNvSpPr>
            <a:spLocks noGrp="1"/>
          </p:cNvSpPr>
          <p:nvPr>
            <p:ph type="sldNum" sz="quarter" idx="12"/>
          </p:nvPr>
        </p:nvSpPr>
        <p:spPr/>
        <p:txBody>
          <a:bodyPr/>
          <a:lstStyle/>
          <a:p>
            <a:fld id="{48F63A3B-78C7-47BE-AE5E-E10140E04643}" type="slidenum">
              <a:rPr lang="en-US" smtClean="0"/>
              <a:pPr/>
              <a:t>16</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1D7153DA-E354-5107-F1AF-8E79C6D1A2F7}"/>
              </a:ext>
            </a:extLst>
          </p:cNvPr>
          <p:cNvPicPr>
            <a:picLocks noChangeAspect="1"/>
          </p:cNvPicPr>
          <p:nvPr/>
        </p:nvPicPr>
        <p:blipFill>
          <a:blip r:embed="rId2"/>
          <a:stretch>
            <a:fillRect/>
          </a:stretch>
        </p:blipFill>
        <p:spPr>
          <a:xfrm>
            <a:off x="697093" y="452022"/>
            <a:ext cx="10961935" cy="6194584"/>
          </a:xfrm>
          <a:prstGeom prst="rect">
            <a:avLst/>
          </a:prstGeom>
        </p:spPr>
      </p:pic>
    </p:spTree>
    <p:extLst>
      <p:ext uri="{BB962C8B-B14F-4D97-AF65-F5344CB8AC3E}">
        <p14:creationId xmlns:p14="http://schemas.microsoft.com/office/powerpoint/2010/main" val="1867055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1A2415-A52C-113C-E7B5-A5B7EFA0411B}"/>
              </a:ext>
            </a:extLst>
          </p:cNvPr>
          <p:cNvSpPr>
            <a:spLocks noGrp="1"/>
          </p:cNvSpPr>
          <p:nvPr>
            <p:ph type="sldNum" sz="quarter" idx="12"/>
          </p:nvPr>
        </p:nvSpPr>
        <p:spPr/>
        <p:txBody>
          <a:bodyPr/>
          <a:lstStyle/>
          <a:p>
            <a:fld id="{48F63A3B-78C7-47BE-AE5E-E10140E04643}" type="slidenum">
              <a:rPr lang="en-US" smtClean="0"/>
              <a:pPr/>
              <a:t>17</a:t>
            </a:fld>
            <a:endParaRPr lang="en-US" dirty="0"/>
          </a:p>
        </p:txBody>
      </p:sp>
      <p:pic>
        <p:nvPicPr>
          <p:cNvPr id="4" name="Picture 3" descr="A screenshot of a computer program&#10;&#10;AI-generated content may be incorrect.">
            <a:extLst>
              <a:ext uri="{FF2B5EF4-FFF2-40B4-BE49-F238E27FC236}">
                <a16:creationId xmlns:a16="http://schemas.microsoft.com/office/drawing/2014/main" id="{96824A6F-08ED-25D2-B114-F9BAAF29FBC4}"/>
              </a:ext>
            </a:extLst>
          </p:cNvPr>
          <p:cNvPicPr>
            <a:picLocks noChangeAspect="1"/>
          </p:cNvPicPr>
          <p:nvPr/>
        </p:nvPicPr>
        <p:blipFill>
          <a:blip r:embed="rId2"/>
          <a:stretch>
            <a:fillRect/>
          </a:stretch>
        </p:blipFill>
        <p:spPr>
          <a:xfrm>
            <a:off x="1307690" y="147179"/>
            <a:ext cx="9419304" cy="6710821"/>
          </a:xfrm>
          <a:prstGeom prst="rect">
            <a:avLst/>
          </a:prstGeom>
        </p:spPr>
      </p:pic>
    </p:spTree>
    <p:extLst>
      <p:ext uri="{BB962C8B-B14F-4D97-AF65-F5344CB8AC3E}">
        <p14:creationId xmlns:p14="http://schemas.microsoft.com/office/powerpoint/2010/main" val="1430936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983182" y="438266"/>
            <a:ext cx="9879437" cy="980844"/>
          </a:xfrm>
        </p:spPr>
        <p:txBody>
          <a:bodyPr/>
          <a:lstStyle/>
          <a:p>
            <a:r>
              <a:rPr lang="en-US" u="sng" dirty="0"/>
              <a:t>RESULTS AND DISCUSSION</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18</a:t>
            </a:fld>
            <a:endParaRPr lang="en-US" dirty="0"/>
          </a:p>
        </p:txBody>
      </p:sp>
      <p:sp>
        <p:nvSpPr>
          <p:cNvPr id="7" name="Content Placeholder 6">
            <a:extLst>
              <a:ext uri="{FF2B5EF4-FFF2-40B4-BE49-F238E27FC236}">
                <a16:creationId xmlns:a16="http://schemas.microsoft.com/office/drawing/2014/main" id="{66EA895C-ED3B-3391-CE83-C762E617C0BD}"/>
              </a:ext>
            </a:extLst>
          </p:cNvPr>
          <p:cNvSpPr>
            <a:spLocks noGrp="1"/>
          </p:cNvSpPr>
          <p:nvPr>
            <p:ph sz="half" idx="1"/>
          </p:nvPr>
        </p:nvSpPr>
        <p:spPr>
          <a:xfrm>
            <a:off x="1700939" y="2185094"/>
            <a:ext cx="9191292" cy="4234640"/>
          </a:xfrm>
        </p:spPr>
        <p:txBody>
          <a:bodyPr/>
          <a:lstStyle/>
          <a:p>
            <a:r>
              <a:rPr lang="en-US" dirty="0"/>
              <a:t>Measuring disease activity is crucial in choosing the optimal treatment plan, determining response to therapy, and prognosis. Moreover, predicting disease severity early on could assist in timely administration of the most suitable medications. </a:t>
            </a:r>
          </a:p>
          <a:p>
            <a:r>
              <a:rPr lang="en-US" dirty="0"/>
              <a:t>The model’s false positives suggest a risk of over-diagnosing RA in patients with borderline abnormalities — this could lead to unnecessary referrals or anxiety. In a clinical deployment, one might mitigate this by using a </a:t>
            </a:r>
            <a:r>
              <a:rPr lang="en-US" b="1" dirty="0"/>
              <a:t>higher decision threshold</a:t>
            </a:r>
            <a:r>
              <a:rPr lang="en-US" dirty="0"/>
              <a:t> or combining model predictions with clinician judgment.</a:t>
            </a:r>
            <a:endParaRPr lang="en-IN" dirty="0"/>
          </a:p>
        </p:txBody>
      </p:sp>
    </p:spTree>
    <p:extLst>
      <p:ext uri="{BB962C8B-B14F-4D97-AF65-F5344CB8AC3E}">
        <p14:creationId xmlns:p14="http://schemas.microsoft.com/office/powerpoint/2010/main" val="3969996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1057274"/>
            <a:ext cx="9875463" cy="999746"/>
          </a:xfrm>
        </p:spPr>
        <p:txBody>
          <a:bodyPr/>
          <a:lstStyle/>
          <a:p>
            <a:r>
              <a:rPr lang="en-US" u="sng" dirty="0"/>
              <a:t>CONCLUSION AND FUTURE SCOPE</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676144" y="2303027"/>
            <a:ext cx="8598566" cy="3961593"/>
          </a:xfrm>
        </p:spPr>
        <p:txBody>
          <a:bodyPr>
            <a:normAutofit/>
          </a:bodyPr>
          <a:lstStyle/>
          <a:p>
            <a:pPr marL="0" indent="0">
              <a:buNone/>
            </a:pPr>
            <a:r>
              <a:rPr lang="en-US" dirty="0"/>
              <a:t>This study shows that ML tools could help doctors find rheumatoid arthritis faster and more accurately. But to really use it in hospitals, we need to test the model on data from </a:t>
            </a:r>
            <a:r>
              <a:rPr lang="en-US" i="1" dirty="0"/>
              <a:t>other clinics (</a:t>
            </a:r>
            <a:r>
              <a:rPr lang="en-US" dirty="0"/>
              <a:t>external validation</a:t>
            </a:r>
            <a:r>
              <a:rPr lang="en-US" i="1" dirty="0"/>
              <a:t>)</a:t>
            </a:r>
            <a:r>
              <a:rPr lang="en-US" dirty="0"/>
              <a:t> and make sure its probability estimates are well‑calibrated — meaning the model’s predicted risk matches the real risk.</a:t>
            </a:r>
          </a:p>
          <a:p>
            <a:pPr marL="0" indent="0">
              <a:buNone/>
            </a:pPr>
            <a:r>
              <a:rPr lang="en-US" b="1" u="sng" dirty="0">
                <a:solidFill>
                  <a:srgbClr val="7030A0"/>
                </a:solidFill>
              </a:rPr>
              <a:t>FUTURE SCOPE</a:t>
            </a:r>
          </a:p>
          <a:p>
            <a:r>
              <a:rPr lang="en-US" dirty="0"/>
              <a:t>Include </a:t>
            </a:r>
            <a:r>
              <a:rPr lang="en-US" b="1" dirty="0"/>
              <a:t>joint images</a:t>
            </a:r>
            <a:r>
              <a:rPr lang="en-US" dirty="0"/>
              <a:t> (X-rays, ultrasound) so the model can understand damage to joints better.</a:t>
            </a:r>
          </a:p>
          <a:p>
            <a:r>
              <a:rPr lang="en-US" dirty="0"/>
              <a:t>Use AI to forecast how patients will respond to treatments (like methotrexate or biologics) using their medical history. </a:t>
            </a:r>
          </a:p>
          <a:p>
            <a:r>
              <a:rPr lang="en-US" dirty="0"/>
              <a:t>Develop AI tools that automatically score joint damage (e.g., Sharp score) from X-ray images — this saves time and reduces human error. </a:t>
            </a:r>
            <a:endParaRPr lang="en-US" b="1" u="sng" dirty="0">
              <a:solidFill>
                <a:srgbClr val="7030A0"/>
              </a:solidFill>
            </a:endParaRP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1057274"/>
            <a:ext cx="10511627" cy="1012785"/>
          </a:xfrm>
        </p:spPr>
        <p:txBody>
          <a:bodyPr/>
          <a:lstStyle/>
          <a:p>
            <a:r>
              <a:rPr lang="en-US" u="sng" dirty="0"/>
              <a:t>REFERENCES</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20</a:t>
            </a:fld>
            <a:endParaRPr lang="en-US" dirty="0"/>
          </a:p>
        </p:txBody>
      </p:sp>
      <p:sp>
        <p:nvSpPr>
          <p:cNvPr id="6" name="Content Placeholder 5">
            <a:extLst>
              <a:ext uri="{FF2B5EF4-FFF2-40B4-BE49-F238E27FC236}">
                <a16:creationId xmlns:a16="http://schemas.microsoft.com/office/drawing/2014/main" id="{7AC1CB06-717F-8764-D94F-B3DBD31817B7}"/>
              </a:ext>
            </a:extLst>
          </p:cNvPr>
          <p:cNvSpPr>
            <a:spLocks noGrp="1"/>
          </p:cNvSpPr>
          <p:nvPr>
            <p:ph sz="quarter" idx="4"/>
          </p:nvPr>
        </p:nvSpPr>
        <p:spPr/>
        <p:txBody>
          <a:bodyPr/>
          <a:lstStyle/>
          <a:p>
            <a:r>
              <a:rPr lang="en-IN" dirty="0"/>
              <a:t>scholar.google.com</a:t>
            </a:r>
          </a:p>
          <a:p>
            <a:r>
              <a:rPr lang="en-IN"/>
              <a:t>colab</a:t>
            </a:r>
            <a:r>
              <a:rPr lang="en-IN" dirty="0"/>
              <a:t>.research.google.com</a:t>
            </a:r>
          </a:p>
          <a:p>
            <a:r>
              <a:rPr lang="en-IN" dirty="0">
                <a:hlinkClick r:id="rId3"/>
              </a:rPr>
              <a:t>https://pmc.ncbi.nlm.nih.gov</a:t>
            </a:r>
            <a:endParaRPr lang="en-IN" dirty="0"/>
          </a:p>
          <a:p>
            <a:endParaRPr lang="en-IN" dirty="0"/>
          </a:p>
        </p:txBody>
      </p:sp>
    </p:spTree>
    <p:extLst>
      <p:ext uri="{BB962C8B-B14F-4D97-AF65-F5344CB8AC3E}">
        <p14:creationId xmlns:p14="http://schemas.microsoft.com/office/powerpoint/2010/main" val="1686213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ANANYA PRADHAN</a:t>
            </a:r>
          </a:p>
          <a:p>
            <a:r>
              <a:rPr lang="en-US" dirty="0"/>
              <a:t>1CSE1</a:t>
            </a:r>
          </a:p>
          <a:p>
            <a:r>
              <a:rPr lang="en-US" dirty="0"/>
              <a:t>25SCS1003000489</a:t>
            </a:r>
          </a:p>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{FFDE20B2-9AB8-4FAB-A21C-0373A630D957}tf78438558_win32</Template>
  <TotalTime>441</TotalTime>
  <Words>2382</Words>
  <Application>Microsoft Office PowerPoint</Application>
  <PresentationFormat>Widescreen</PresentationFormat>
  <Paragraphs>221</Paragraphs>
  <Slides>21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Black</vt:lpstr>
      <vt:lpstr>Calibri</vt:lpstr>
      <vt:lpstr>Sabon Next LT</vt:lpstr>
      <vt:lpstr>Custom</vt:lpstr>
      <vt:lpstr>Rheumatoid arthiritis detection using machine learning</vt:lpstr>
      <vt:lpstr>INDEX</vt:lpstr>
      <vt:lpstr>INTRODUCTION </vt:lpstr>
      <vt:lpstr>1.2 Objectives</vt:lpstr>
      <vt:lpstr>LITERATURE REVIEW</vt:lpstr>
      <vt:lpstr>PowerPoint Presentation</vt:lpstr>
      <vt:lpstr>methodology</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AND DISCUSSION</vt:lpstr>
      <vt:lpstr>CONCLUSION AND 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ANANYA PRADHAN</dc:creator>
  <cp:lastModifiedBy>ANANYA PRADHAN</cp:lastModifiedBy>
  <cp:revision>2</cp:revision>
  <dcterms:created xsi:type="dcterms:W3CDTF">2025-11-23T14:45:36Z</dcterms:created>
  <dcterms:modified xsi:type="dcterms:W3CDTF">2025-11-23T22:12:31Z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